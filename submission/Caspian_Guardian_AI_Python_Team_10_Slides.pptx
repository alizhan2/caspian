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b4e57e795c04862" /><Relationship Type="http://schemas.openxmlformats.org/officeDocument/2006/relationships/extended-properties" Target="/docProps/app.xml" Id="R2182da78eb494a78" /><Relationship Type="http://schemas.openxmlformats.org/officeDocument/2006/relationships/officeDocument" Target="/ppt/presentation.xml" Id="Rf2c20f5739ab49f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72bfa0725c74ac9"/>
  </p:sldMasterIdLst>
  <p:notesMasterIdLst>
    <p:notesMasterId xmlns:r="http://schemas.openxmlformats.org/officeDocument/2006/relationships" r:id="R45686b719d4f4f33"/>
  </p:notesMasterIdLst>
  <p:sldIdLst>
    <p:sldId xmlns:r="http://schemas.openxmlformats.org/officeDocument/2006/relationships" id="256" r:id="Re4ad30fa079f46fc"/>
    <p:sldId xmlns:r="http://schemas.openxmlformats.org/officeDocument/2006/relationships" id="257" r:id="R35b3d3a7e73b4616"/>
    <p:sldId xmlns:r="http://schemas.openxmlformats.org/officeDocument/2006/relationships" id="258" r:id="R195a23d925474a05"/>
    <p:sldId xmlns:r="http://schemas.openxmlformats.org/officeDocument/2006/relationships" id="259" r:id="R74bd126c62494bb1"/>
    <p:sldId xmlns:r="http://schemas.openxmlformats.org/officeDocument/2006/relationships" id="260" r:id="Ra1116ba00a9843a9"/>
    <p:sldId xmlns:r="http://schemas.openxmlformats.org/officeDocument/2006/relationships" id="261" r:id="Re7cad309d4494c80"/>
    <p:sldId xmlns:r="http://schemas.openxmlformats.org/officeDocument/2006/relationships" id="262" r:id="Rf693059fc9794703"/>
    <p:sldId xmlns:r="http://schemas.openxmlformats.org/officeDocument/2006/relationships" id="263" r:id="Re9b9e75305b84abf"/>
    <p:sldId xmlns:r="http://schemas.openxmlformats.org/officeDocument/2006/relationships" id="264" r:id="Re9be4aa4c28a4a99"/>
    <p:sldId xmlns:r="http://schemas.openxmlformats.org/officeDocument/2006/relationships" id="265" r:id="Ra60f073c03f04e5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f555b775f7e45e8" /><Relationship Type="http://schemas.openxmlformats.org/officeDocument/2006/relationships/slideMaster" Target="/ppt/slideMasters/slideMaster1.xml" Id="R472bfa0725c74ac9" /><Relationship Type="http://schemas.openxmlformats.org/officeDocument/2006/relationships/notesMaster" Target="/ppt/notesMasters/notesMaster1.xml" Id="R45686b719d4f4f33" /><Relationship Type="http://schemas.openxmlformats.org/officeDocument/2006/relationships/presProps" Target="/ppt/presProps.xml" Id="R5a4e0e41fe444058" /><Relationship Type="http://schemas.openxmlformats.org/officeDocument/2006/relationships/tableStyles" Target="/ppt/tableStyles.xml" Id="Ra2bf70cafb134691" /><Relationship Type="http://schemas.openxmlformats.org/officeDocument/2006/relationships/slide" Target="/ppt/slides/slide1.xml" Id="Re4ad30fa079f46fc" /><Relationship Type="http://schemas.openxmlformats.org/officeDocument/2006/relationships/slide" Target="/ppt/slides/slide2.xml" Id="R35b3d3a7e73b4616" /><Relationship Type="http://schemas.openxmlformats.org/officeDocument/2006/relationships/slide" Target="/ppt/slides/slide3.xml" Id="R195a23d925474a05" /><Relationship Type="http://schemas.openxmlformats.org/officeDocument/2006/relationships/slide" Target="/ppt/slides/slide4.xml" Id="R74bd126c62494bb1" /><Relationship Type="http://schemas.openxmlformats.org/officeDocument/2006/relationships/slide" Target="/ppt/slides/slide5.xml" Id="Ra1116ba00a9843a9" /><Relationship Type="http://schemas.openxmlformats.org/officeDocument/2006/relationships/slide" Target="/ppt/slides/slide6.xml" Id="Re7cad309d4494c80" /><Relationship Type="http://schemas.openxmlformats.org/officeDocument/2006/relationships/slide" Target="/ppt/slides/slide7.xml" Id="Rf693059fc9794703" /><Relationship Type="http://schemas.openxmlformats.org/officeDocument/2006/relationships/slide" Target="/ppt/slides/slide8.xml" Id="Re9b9e75305b84abf" /><Relationship Type="http://schemas.openxmlformats.org/officeDocument/2006/relationships/slide" Target="/ppt/slides/slide9.xml" Id="Re9be4aa4c28a4a99" /><Relationship Type="http://schemas.openxmlformats.org/officeDocument/2006/relationships/slide" Target="/ppt/slides/slide10.xml" Id="Ra60f073c03f04e5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9d95416ddb74ba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8a7516335924c78" /><Relationship Type="http://schemas.openxmlformats.org/officeDocument/2006/relationships/notesMaster" Target="/ppt/notesMasters/notesMaster1.xml" Id="R5b95ccc37dc34e7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02455ad92ce4b10" /><Relationship Type="http://schemas.openxmlformats.org/officeDocument/2006/relationships/notesMaster" Target="/ppt/notesMasters/notesMaster1.xml" Id="R00b5524b48d6432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b7e7d18ff8a4b6d" /><Relationship Type="http://schemas.openxmlformats.org/officeDocument/2006/relationships/notesMaster" Target="/ppt/notesMasters/notesMaster1.xml" Id="R670c91a8d2ab433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dd63107f38344dc" /><Relationship Type="http://schemas.openxmlformats.org/officeDocument/2006/relationships/notesMaster" Target="/ppt/notesMasters/notesMaster1.xml" Id="R0bbb081a0069407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2b3c5fc98d542c8" /><Relationship Type="http://schemas.openxmlformats.org/officeDocument/2006/relationships/notesMaster" Target="/ppt/notesMasters/notesMaster1.xml" Id="R8e7c9b3c839d434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6d7a9e603b044f6" /><Relationship Type="http://schemas.openxmlformats.org/officeDocument/2006/relationships/notesMaster" Target="/ppt/notesMasters/notesMaster1.xml" Id="R5a832f61e0af4b6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c265de688f64319" /><Relationship Type="http://schemas.openxmlformats.org/officeDocument/2006/relationships/notesMaster" Target="/ppt/notesMasters/notesMaster1.xml" Id="R851b2ee5f9e8495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d069349dfc14c72" /><Relationship Type="http://schemas.openxmlformats.org/officeDocument/2006/relationships/notesMaster" Target="/ppt/notesMasters/notesMaster1.xml" Id="R93edea2179a4412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1cbf890d0b34286" /><Relationship Type="http://schemas.openxmlformats.org/officeDocument/2006/relationships/notesMaster" Target="/ppt/notesMasters/notesMaster1.xml" Id="Re75aa7e24346487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84497bbc09f4610" /><Relationship Type="http://schemas.openxmlformats.org/officeDocument/2006/relationships/notesMaster" Target="/ppt/notesMasters/notesMaster1.xml" Id="R9bfaa4646e1e4b8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repository: https://github.com/Alizhan2/Caspian</a:t>
            </a:r>
          </a:p>
          <a:p xmlns:a="http://schemas.openxmlformats.org/drawingml/2006/main">
            <a:r>
              <a:t>- Verified cloud MVP: https://caspian-guardian-live-fresh-97wxqr74j4q9fwqq-5173.app.github.dev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repository: https://github.com/Alizhan2/Caspian</a:t>
            </a:r>
          </a:p>
          <a:p xmlns:a="http://schemas.openxmlformats.org/drawingml/2006/main">
            <a:r>
              <a:t>- Verified cloud MVP: https://caspian-guardian-live-fresh-97wxqr74j4q9fwqq-5173.app.github.dev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repository: https://github.com/Alizhan2/Caspian</a:t>
            </a:r>
          </a:p>
          <a:p xmlns:a="http://schemas.openxmlformats.org/drawingml/2006/main">
            <a:r>
              <a:t>- Verified cloud MVP: https://caspian-guardian-live-fresh-97wxqr74j4q9fwqq-5173.app.github.dev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repository: https://github.com/Alizhan2/Caspian</a:t>
            </a:r>
          </a:p>
          <a:p xmlns:a="http://schemas.openxmlformats.org/drawingml/2006/main">
            <a:r>
              <a:t>- Verified cloud MVP: https://caspian-guardian-live-fresh-97wxqr74j4q9fwqq-5173.app.github.dev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repository: https://github.com/Alizhan2/Caspian</a:t>
            </a:r>
          </a:p>
          <a:p xmlns:a="http://schemas.openxmlformats.org/drawingml/2006/main">
            <a:r>
              <a:t>- Verified cloud MVP: https://caspian-guardian-live-fresh-97wxqr74j4q9fwqq-5173.app.github.dev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repository: https://github.com/Alizhan2/Caspian</a:t>
            </a:r>
          </a:p>
          <a:p xmlns:a="http://schemas.openxmlformats.org/drawingml/2006/main">
            <a:r>
              <a:t>- Verified cloud MVP: https://caspian-guardian-live-fresh-97wxqr74j4q9fwqq-5173.app.github.dev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repository: https://github.com/Alizhan2/Caspian</a:t>
            </a:r>
          </a:p>
          <a:p xmlns:a="http://schemas.openxmlformats.org/drawingml/2006/main">
            <a:r>
              <a:t>- Verified cloud MVP: https://caspian-guardian-live-fresh-97wxqr74j4q9fwqq-5173.app.github.dev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repository: https://github.com/Alizhan2/Caspian</a:t>
            </a:r>
          </a:p>
          <a:p xmlns:a="http://schemas.openxmlformats.org/drawingml/2006/main">
            <a:r>
              <a:t>- Verified cloud MVP: https://caspian-guardian-live-fresh-97wxqr74j4q9fwqq-5173.app.github.dev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repository: https://github.com/Alizhan2/Caspian</a:t>
            </a:r>
          </a:p>
          <a:p xmlns:a="http://schemas.openxmlformats.org/drawingml/2006/main">
            <a:r>
              <a:t>- Verified cloud MVP: https://caspian-guardian-live-fresh-97wxqr74j4q9fwqq-5173.app.github.dev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repository: https://github.com/Alizhan2/Caspian</a:t>
            </a:r>
          </a:p>
          <a:p xmlns:a="http://schemas.openxmlformats.org/drawingml/2006/main">
            <a:r>
              <a:t>- Verified cloud MVP: https://caspian-guardian-live-fresh-97wxqr74j4q9fwqq-5173.app.github.dev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dec9f0bc2c4fa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37856dfb1274b47" /><Relationship Type="http://schemas.openxmlformats.org/officeDocument/2006/relationships/slideLayout" Target="/ppt/slideLayouts/slideLayout1.xml" Id="R579cd4626d89436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79cd4626d89436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0c70250ebd43e6" /><Relationship Type="http://schemas.openxmlformats.org/officeDocument/2006/relationships/notesSlide" Target="/ppt/notesSlides/notesSlide1.xml" Id="R89bb50f35d5c458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35d9e0edc1482b" /><Relationship Type="http://schemas.openxmlformats.org/officeDocument/2006/relationships/notesSlide" Target="/ppt/notesSlides/notesSlide2.xml" Id="R1fc276ad547f41a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94cd916fcc4ca1" /><Relationship Type="http://schemas.openxmlformats.org/officeDocument/2006/relationships/notesSlide" Target="/ppt/notesSlides/notesSlide3.xml" Id="Ra4cef5c786c6456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505cd820454a4f" /><Relationship Type="http://schemas.openxmlformats.org/officeDocument/2006/relationships/notesSlide" Target="/ppt/notesSlides/notesSlide4.xml" Id="R1b6537a8118a430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3c9d18c1284adb" /><Relationship Type="http://schemas.openxmlformats.org/officeDocument/2006/relationships/notesSlide" Target="/ppt/notesSlides/notesSlide5.xml" Id="R178d64f05ac0480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ffbd71eedc481f" /><Relationship Type="http://schemas.openxmlformats.org/officeDocument/2006/relationships/notesSlide" Target="/ppt/notesSlides/notesSlide6.xml" Id="R10e181d600ac452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450876e6a34615" /><Relationship Type="http://schemas.openxmlformats.org/officeDocument/2006/relationships/notesSlide" Target="/ppt/notesSlides/notesSlide7.xml" Id="R4ea1a0f7fe2043f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51d9707d614eee" /><Relationship Type="http://schemas.openxmlformats.org/officeDocument/2006/relationships/image" Target="/ppt/media/image.jpeg" Id="Ra947fa03f658449d" /><Relationship Type="http://schemas.openxmlformats.org/officeDocument/2006/relationships/notesSlide" Target="/ppt/notesSlides/notesSlide8.xml" Id="R26a5888630cb4fc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85796d70874190" /><Relationship Type="http://schemas.openxmlformats.org/officeDocument/2006/relationships/notesSlide" Target="/ppt/notesSlides/notesSlide9.xml" Id="R3e36a3035d1d4c4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63cb5e00b6484c" /><Relationship Type="http://schemas.openxmlformats.org/officeDocument/2006/relationships/notesSlide" Target="/ppt/notesSlides/notesSlide10.xml" Id="R10c42a8215fb414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EFF6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A3F300-4D90-4585-AE4C-40C79D377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2A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029F73-6FBA-4235-8D92-1B676B7E3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457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8B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C71427-DD39-47FC-9B34-1457EF245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0125"/>
            <a:ext cx="6477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500" b="1">
                <a:solidFill>
                  <a:srgbClr val="FFFFFF"/>
                </a:solidFill>
              </a:defRPr>
            </a:pPr>
            <a:r>
              <a:rPr sz="4500" b="1">
                <a:solidFill>
                  <a:srgbClr val="FFFFFF"/>
                </a:solidFill>
              </a:rPr>
              <a:t>CASPIAN</a:t>
            </a:r>
          </a:p>
          <a:p xmlns:a="http://schemas.openxmlformats.org/drawingml/2006/main">
            <a:pPr algn="l">
              <a:buNone/>
              <a:defRPr sz="4500" b="1">
                <a:solidFill>
                  <a:srgbClr val="FFFFFF"/>
                </a:solidFill>
              </a:defRPr>
            </a:pPr>
            <a:r>
              <a:rPr sz="4500" b="1">
                <a:solidFill>
                  <a:srgbClr val="FFFFFF"/>
                </a:solidFill>
              </a:rPr>
              <a:t>GUARDIAN AI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9EFBD1-1C88-494C-84D2-34288C3F3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628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92E4DA"/>
                </a:solidFill>
              </a:defRPr>
            </a:pPr>
            <a:r>
              <a:rPr sz="1875" b="0">
                <a:solidFill>
                  <a:srgbClr val="92E4DA"/>
                </a:solidFill>
              </a:rPr>
              <a:t>Спутниковый скрининг экологических рисков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92E4DA"/>
                </a:solidFill>
              </a:defRPr>
            </a:pPr>
            <a:r>
              <a:rPr sz="1875" b="0">
                <a:solidFill>
                  <a:srgbClr val="92E4DA"/>
                </a:solidFill>
              </a:rPr>
              <a:t>для Каспийского моря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6AD3FA-9D89-4A32-8526-FDF9AA053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29150"/>
            <a:ext cx="43243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E28E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500615-AFE7-4C7A-9190-F7CFA7AB1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10125"/>
            <a:ext cx="3905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82A35"/>
                </a:solidFill>
              </a:defRPr>
            </a:pPr>
            <a:r>
              <a:rPr sz="1650" b="1">
                <a:solidFill>
                  <a:srgbClr val="082A35"/>
                </a:solidFill>
              </a:rPr>
              <a:t>Команда: Python team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209C8A-FDFD-4E99-9B68-C7D7B34A8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590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BCD6D3"/>
                </a:solidFill>
              </a:defRPr>
            </a:pPr>
            <a:r>
              <a:rPr sz="1275" b="1">
                <a:solidFill>
                  <a:srgbClr val="BCD6D3"/>
                </a:solidFill>
              </a:rPr>
              <a:t>Рабочий MVP  •  Sentinel-1  •  Open-source AI  •  GIS</a:t>
            </a:r>
          </a:p>
        </p:txBody>
      </p:sp>
    </p:spTree>
    <p:extLst>
      <p:ext uri="{BB962C8B-B14F-4D97-AF65-F5344CB8AC3E}">
        <p14:creationId xmlns:p14="http://schemas.microsoft.com/office/powerpoint/2010/main" val="17271144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6A3F93-409F-4165-9D66-4E37AE76F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D8B82"/>
                </a:solidFill>
              </a:defRPr>
            </a:pPr>
            <a:r>
              <a:rPr sz="1125" b="1">
                <a:solidFill>
                  <a:srgbClr val="0D8B82"/>
                </a:solidFill>
              </a:rPr>
              <a:t>ПРОБЛЕМА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7183AC-A832-4B2D-8825-42C052175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9334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082A35"/>
                </a:solidFill>
              </a:defRPr>
            </a:pPr>
            <a:r>
              <a:rPr sz="3900" b="1">
                <a:solidFill>
                  <a:srgbClr val="082A35"/>
                </a:solidFill>
              </a:rPr>
              <a:t>Экологический риск виден поздно —</a:t>
            </a:r>
          </a:p>
          <a:p xmlns:a="http://schemas.openxmlformats.org/drawingml/2006/main">
            <a:pPr algn="l">
              <a:buNone/>
              <a:defRPr sz="3900" b="1">
                <a:solidFill>
                  <a:srgbClr val="082A35"/>
                </a:solidFill>
              </a:defRPr>
            </a:pPr>
            <a:r>
              <a:rPr sz="3900" b="1">
                <a:solidFill>
                  <a:srgbClr val="082A35"/>
                </a:solidFill>
              </a:rPr>
              <a:t>а проверка начинается без приоритета.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3068A9-CFD3-4521-96E4-05F5AFC2C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323850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EFF6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291A1C-B391-4CD7-8380-213E3D37A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814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8B82"/>
                </a:solidFill>
              </a:defRPr>
            </a:pPr>
            <a:r>
              <a:rPr sz="1800" b="1">
                <a:solidFill>
                  <a:srgbClr val="0D8B82"/>
                </a:solidFill>
              </a:rPr>
              <a:t>Снимки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7322B2-E0AD-4F8F-8BB2-C1B988DD5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4817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1313B"/>
                </a:solidFill>
              </a:defRPr>
            </a:pPr>
            <a:r>
              <a:rPr sz="1425" b="0">
                <a:solidFill>
                  <a:srgbClr val="11313B"/>
                </a:solidFill>
              </a:rPr>
              <a:t>SAR-сцены сложны для ручной интерпретации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E02214-42BA-4FDB-BA28-F74012784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714750"/>
            <a:ext cx="323850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EFF6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C8D25F-0CBB-4D37-BBDC-BEED33D82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9814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8B82"/>
                </a:solidFill>
              </a:defRPr>
            </a:pPr>
            <a:r>
              <a:rPr sz="1800" b="1">
                <a:solidFill>
                  <a:srgbClr val="0D8B82"/>
                </a:solidFill>
              </a:rPr>
              <a:t>Решения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85AAB2-D186-498B-AB5E-8192AB455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44817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1313B"/>
                </a:solidFill>
              </a:defRPr>
            </a:pPr>
            <a:r>
              <a:rPr sz="1425" b="0">
                <a:solidFill>
                  <a:srgbClr val="11313B"/>
                </a:solidFill>
              </a:rPr>
              <a:t>Не хватает единой цепочки: сцена → сигнал → проверка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1B5803-72F4-4A0F-AFF5-F877A9237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714750"/>
            <a:ext cx="323850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EFF6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D59A19-DC79-4CCF-A650-9D84E462C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9814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8B82"/>
                </a:solidFill>
              </a:defRPr>
            </a:pPr>
            <a:r>
              <a:rPr sz="1800" b="1">
                <a:solidFill>
                  <a:srgbClr val="0D8B82"/>
                </a:solidFill>
              </a:rPr>
              <a:t>Риск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E2E558-CF01-4632-AC65-FDD53E797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44817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1313B"/>
                </a:solidFill>
              </a:defRPr>
            </a:pPr>
            <a:r>
              <a:rPr sz="1425" b="0">
                <a:solidFill>
                  <a:srgbClr val="11313B"/>
                </a:solidFill>
              </a:rPr>
              <a:t>Тёмные области на SAR могут быть не разливом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729C39-6B6F-4E19-9E68-2644D78E6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55717A"/>
                </a:solidFill>
              </a:defRPr>
            </a:pPr>
            <a:r>
              <a:rPr sz="900" b="1">
                <a:solidFill>
                  <a:srgbClr val="55717A"/>
                </a:solidFill>
              </a:rPr>
              <a:t>CASPIAN GUARDIAN AI  /  02</a:t>
            </a:r>
          </a:p>
        </p:txBody>
      </p:sp>
    </p:spTree>
    <p:extLst>
      <p:ext uri="{BB962C8B-B14F-4D97-AF65-F5344CB8AC3E}">
        <p14:creationId xmlns:p14="http://schemas.microsoft.com/office/powerpoint/2010/main" val="127190553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EFF6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DFEFDF-669F-4A3A-A760-CADBEC2C6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D8B82"/>
                </a:solidFill>
              </a:defRPr>
            </a:pPr>
            <a:r>
              <a:rPr sz="1125" b="1">
                <a:solidFill>
                  <a:srgbClr val="0D8B82"/>
                </a:solidFill>
              </a:rPr>
              <a:t>ЦЕЛЬ И АКТУАЛЬНОСТЬ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6D691A-A74F-4C53-882B-3DCFFAE59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9334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082A35"/>
                </a:solidFill>
              </a:defRPr>
            </a:pPr>
            <a:r>
              <a:rPr sz="3900" b="1">
                <a:solidFill>
                  <a:srgbClr val="082A35"/>
                </a:solidFill>
              </a:rPr>
              <a:t>Сократить путь от спутниковой сцены</a:t>
            </a:r>
          </a:p>
          <a:p xmlns:a="http://schemas.openxmlformats.org/drawingml/2006/main">
            <a:pPr algn="l">
              <a:buNone/>
              <a:defRPr sz="3900" b="1">
                <a:solidFill>
                  <a:srgbClr val="082A35"/>
                </a:solidFill>
              </a:defRPr>
            </a:pPr>
            <a:r>
              <a:rPr sz="3900" b="1">
                <a:solidFill>
                  <a:srgbClr val="082A35"/>
                </a:solidFill>
              </a:rPr>
              <a:t>до проверяемого экологического сигнала.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DBDD80-6A7F-491C-8BA8-F2291AF71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323850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29D3E8-E279-4CF4-99B9-E301BA138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005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8B82"/>
                </a:solidFill>
              </a:defRPr>
            </a:pPr>
            <a:r>
              <a:rPr sz="1800" b="1">
                <a:solidFill>
                  <a:srgbClr val="0D8B82"/>
                </a:solidFill>
              </a:rPr>
              <a:t>Обнаруживать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25293A-D69E-4B81-A3D5-665DAE898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76750"/>
            <a:ext cx="276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313B"/>
                </a:solidFill>
              </a:defRPr>
            </a:pPr>
            <a:r>
              <a:rPr sz="1350" b="0">
                <a:solidFill>
                  <a:srgbClr val="11313B"/>
                </a:solidFill>
              </a:rPr>
              <a:t>Новая Sentinel-1 сцена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1313B"/>
                </a:solidFill>
              </a:defRPr>
            </a:pPr>
            <a:r>
              <a:rPr sz="1350" b="0">
                <a:solidFill>
                  <a:srgbClr val="11313B"/>
                </a:solidFill>
              </a:rPr>
              <a:t>в сохранённой AOI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A3759A-50FF-4A1E-8F01-2EC79D879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714750"/>
            <a:ext cx="323850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3E69D3-675A-4588-BCB7-24A92C80E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0005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8B82"/>
                </a:solidFill>
              </a:defRPr>
            </a:pPr>
            <a:r>
              <a:rPr sz="1800" b="1">
                <a:solidFill>
                  <a:srgbClr val="0D8B82"/>
                </a:solidFill>
              </a:rPr>
              <a:t>Приоритизировать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D5A3E3-E94B-49BE-BB5B-2A6EEF247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476750"/>
            <a:ext cx="276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313B"/>
                </a:solidFill>
              </a:defRPr>
            </a:pPr>
            <a:r>
              <a:rPr sz="1350" b="0">
                <a:solidFill>
                  <a:srgbClr val="11313B"/>
                </a:solidFill>
              </a:rPr>
              <a:t>AI выделяет зоны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1313B"/>
                </a:solidFill>
              </a:defRPr>
            </a:pPr>
            <a:r>
              <a:rPr sz="1350" b="0">
                <a:solidFill>
                  <a:srgbClr val="11313B"/>
                </a:solidFill>
              </a:rPr>
              <a:t>для быстрой проверки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94EA91-8A5A-4625-AB28-25327ACD7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714750"/>
            <a:ext cx="323850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31B4F5-493C-45E1-9460-C66F639AC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0005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8B82"/>
                </a:solidFill>
              </a:defRPr>
            </a:pPr>
            <a:r>
              <a:rPr sz="1800" b="1">
                <a:solidFill>
                  <a:srgbClr val="0D8B82"/>
                </a:solidFill>
              </a:rPr>
              <a:t>Подтверждать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C1AD85-0652-4C91-9EFB-3D18FEAF0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476750"/>
            <a:ext cx="276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313B"/>
                </a:solidFill>
              </a:defRPr>
            </a:pPr>
            <a:r>
              <a:rPr sz="1350" b="0">
                <a:solidFill>
                  <a:srgbClr val="11313B"/>
                </a:solidFill>
              </a:rPr>
              <a:t>Оператор принимает решение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1313B"/>
                </a:solidFill>
              </a:defRPr>
            </a:pPr>
            <a:r>
              <a:rPr sz="1350" b="0">
                <a:solidFill>
                  <a:srgbClr val="11313B"/>
                </a:solidFill>
              </a:rPr>
              <a:t>и сохраняет историю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3BB82E-08CD-47E3-82F4-86B1E98D4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082A35"/>
                </a:solidFill>
              </a:defRPr>
            </a:pPr>
            <a:r>
              <a:rPr sz="1725" b="1">
                <a:solidFill>
                  <a:srgbClr val="082A35"/>
                </a:solidFill>
              </a:rPr>
              <a:t>Актуальность: Каспию нужен регулярный мониторинг больших акваторий.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17ACF7-8FAF-41E6-9E1C-42BF5B2E4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55717A"/>
                </a:solidFill>
              </a:defRPr>
            </a:pPr>
            <a:r>
              <a:rPr sz="900" b="1">
                <a:solidFill>
                  <a:srgbClr val="55717A"/>
                </a:solidFill>
              </a:rPr>
              <a:t>CASPIAN GUARDIAN AI  /  03</a:t>
            </a:r>
          </a:p>
        </p:txBody>
      </p:sp>
    </p:spTree>
    <p:extLst>
      <p:ext uri="{BB962C8B-B14F-4D97-AF65-F5344CB8AC3E}">
        <p14:creationId xmlns:p14="http://schemas.microsoft.com/office/powerpoint/2010/main" val="35663211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EFF6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E2D7CE8-7B54-4A7E-BA67-96CC57A04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D8B82"/>
                </a:solidFill>
              </a:defRPr>
            </a:pPr>
            <a:r>
              <a:rPr sz="1125" b="1">
                <a:solidFill>
                  <a:srgbClr val="0D8B82"/>
                </a:solidFill>
              </a:rPr>
              <a:t>РЕШЕНИЕ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B98EDD-A463-4000-837C-4B8933EB1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9334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082A35"/>
                </a:solidFill>
              </a:defRPr>
            </a:pPr>
            <a:r>
              <a:rPr sz="3900" b="1">
                <a:solidFill>
                  <a:srgbClr val="082A35"/>
                </a:solidFill>
              </a:rPr>
              <a:t>Caspian Guardian AI превращает новую сцену</a:t>
            </a:r>
          </a:p>
          <a:p xmlns:a="http://schemas.openxmlformats.org/drawingml/2006/main">
            <a:pPr algn="l">
              <a:buNone/>
              <a:defRPr sz="3900" b="1">
                <a:solidFill>
                  <a:srgbClr val="082A35"/>
                </a:solidFill>
              </a:defRPr>
            </a:pPr>
            <a:r>
              <a:rPr sz="3900" b="1">
                <a:solidFill>
                  <a:srgbClr val="082A35"/>
                </a:solidFill>
              </a:rPr>
              <a:t>в прозрачный план проверки.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482CF2-D7C5-4432-9232-35F4BFEBE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230505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FB984F-D90A-47BE-9EBA-2F6395054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052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28E42"/>
                </a:solidFill>
              </a:defRPr>
            </a:pPr>
            <a:r>
              <a:rPr sz="1350" b="1">
                <a:solidFill>
                  <a:srgbClr val="E28E42"/>
                </a:solidFill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58D682-B725-40AB-9071-6EC5775DB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8625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82A35"/>
                </a:solidFill>
              </a:defRPr>
            </a:pPr>
            <a:r>
              <a:rPr sz="1800" b="1">
                <a:solidFill>
                  <a:srgbClr val="082A35"/>
                </a:solidFill>
              </a:rPr>
              <a:t>Находит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AEBEC7-DAEE-4FE7-B8BC-CBD8ADAB1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76775"/>
            <a:ext cx="1857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5717A"/>
                </a:solidFill>
              </a:defRPr>
            </a:pPr>
            <a:r>
              <a:rPr sz="1275" b="0">
                <a:solidFill>
                  <a:srgbClr val="55717A"/>
                </a:solidFill>
              </a:rPr>
              <a:t>последнюю Sentinel-1 GRD сцену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78963D-D1C8-4964-916E-6EA074F3F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381500"/>
            <a:ext cx="238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0D8B82"/>
                </a:solidFill>
              </a:defRPr>
            </a:pPr>
            <a:r>
              <a:rPr sz="1950" b="1">
                <a:solidFill>
                  <a:srgbClr val="0D8B82"/>
                </a:solidFill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AFD188-D05D-48DE-9DAA-9663B106B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714750"/>
            <a:ext cx="230505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1F4BAA-AB17-43FF-9CBA-0F63F2E10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9052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28E42"/>
                </a:solidFill>
              </a:defRPr>
            </a:pPr>
            <a:r>
              <a:rPr sz="1350" b="1">
                <a:solidFill>
                  <a:srgbClr val="E28E42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39E2F0-EB42-48D2-9B1D-7590021F4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28625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82A35"/>
                </a:solidFill>
              </a:defRPr>
            </a:pPr>
            <a:r>
              <a:rPr sz="1800" b="1">
                <a:solidFill>
                  <a:srgbClr val="082A35"/>
                </a:solidFill>
              </a:rPr>
              <a:t>Анализирует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EF807B-3A56-40C6-B031-99BBFC80B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676775"/>
            <a:ext cx="1857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5717A"/>
                </a:solidFill>
              </a:defRPr>
            </a:pPr>
            <a:r>
              <a:rPr sz="1275" b="0">
                <a:solidFill>
                  <a:srgbClr val="55717A"/>
                </a:solidFill>
              </a:rPr>
              <a:t>VV/VH каналы локальной open-source моделью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215DE9-26E9-4D63-8169-41BF1B071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381500"/>
            <a:ext cx="238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0D8B82"/>
                </a:solidFill>
              </a:defRPr>
            </a:pPr>
            <a:r>
              <a:rPr sz="1950" b="1">
                <a:solidFill>
                  <a:srgbClr val="0D8B82"/>
                </a:solidFill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2D55AD-9CA5-4FC9-A42E-E1B4BF623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714750"/>
            <a:ext cx="230505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3DDE87-4B36-4997-AA03-6E2139567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9052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28E42"/>
                </a:solidFill>
              </a:defRPr>
            </a:pPr>
            <a:r>
              <a:rPr sz="1350" b="1">
                <a:solidFill>
                  <a:srgbClr val="E28E42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A163D4-DB5F-42D8-8ECB-8D066920D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28625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82A35"/>
                </a:solidFill>
              </a:defRPr>
            </a:pPr>
            <a:r>
              <a:rPr sz="1800" b="1">
                <a:solidFill>
                  <a:srgbClr val="082A35"/>
                </a:solidFill>
              </a:rPr>
              <a:t>Проверяет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C6E871-D7DB-40CB-8718-98789524C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676775"/>
            <a:ext cx="1857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5717A"/>
                </a:solidFill>
              </a:defRPr>
            </a:pPr>
            <a:r>
              <a:rPr sz="1275" b="0">
                <a:solidFill>
                  <a:srgbClr val="55717A"/>
                </a:solidFill>
              </a:rPr>
              <a:t>берег, площадь, историю и контекст судов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0C0C91-87BF-4BCB-9A89-9F609C80A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381500"/>
            <a:ext cx="238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0D8B82"/>
                </a:solidFill>
              </a:defRPr>
            </a:pPr>
            <a:r>
              <a:rPr sz="1950" b="1">
                <a:solidFill>
                  <a:srgbClr val="0D8B82"/>
                </a:solidFill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9D01CA5-2F8F-448E-807F-F87353B7E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714750"/>
            <a:ext cx="230505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CF7ABF-0FF5-468A-BAB4-00B87D7E5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9052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28E42"/>
                </a:solidFill>
              </a:defRPr>
            </a:pPr>
            <a:r>
              <a:rPr sz="1350" b="1">
                <a:solidFill>
                  <a:srgbClr val="E28E42"/>
                </a:solidFill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183BD4C-5295-4301-BF7A-F8C0E368C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28625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82A35"/>
                </a:solidFill>
              </a:defRPr>
            </a:pPr>
            <a:r>
              <a:rPr sz="1800" b="1">
                <a:solidFill>
                  <a:srgbClr val="082A35"/>
                </a:solidFill>
              </a:rPr>
              <a:t>Передаёт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3AF278-9CCB-4805-B973-71A1D54E4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676775"/>
            <a:ext cx="1857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5717A"/>
                </a:solidFill>
              </a:defRPr>
            </a:pPr>
            <a:r>
              <a:rPr sz="1275" b="0">
                <a:solidFill>
                  <a:srgbClr val="55717A"/>
                </a:solidFill>
              </a:rPr>
              <a:t>оператору GeoJSON, отчёт и действия review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FF0C53-975E-452B-A048-32B6435F5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55717A"/>
                </a:solidFill>
              </a:defRPr>
            </a:pPr>
            <a:r>
              <a:rPr sz="900" b="1">
                <a:solidFill>
                  <a:srgbClr val="55717A"/>
                </a:solidFill>
              </a:rPr>
              <a:t>CASPIAN GUARDIAN AI  /  04</a:t>
            </a:r>
          </a:p>
        </p:txBody>
      </p:sp>
    </p:spTree>
    <p:extLst>
      <p:ext uri="{BB962C8B-B14F-4D97-AF65-F5344CB8AC3E}">
        <p14:creationId xmlns:p14="http://schemas.microsoft.com/office/powerpoint/2010/main" val="30424234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FF6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DFEFDF-669F-4A3A-A760-CADBEC2C6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D8B82"/>
                </a:solidFill>
              </a:defRPr>
            </a:pPr>
            <a:r>
              <a:rPr sz="1125" b="1">
                <a:solidFill>
                  <a:srgbClr val="0D8B82"/>
                </a:solidFill>
              </a:rPr>
              <a:t>ЦЕЛЕВАЯ АУДИТОРИЯ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6D691A-A74F-4C53-882B-3DCFFAE59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9334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082A35"/>
                </a:solidFill>
              </a:defRPr>
            </a:pPr>
            <a:r>
              <a:rPr sz="3900" b="1">
                <a:solidFill>
                  <a:srgbClr val="082A35"/>
                </a:solidFill>
              </a:rPr>
              <a:t>Платформа объединяет тех, кто наблюдает,</a:t>
            </a:r>
          </a:p>
          <a:p xmlns:a="http://schemas.openxmlformats.org/drawingml/2006/main">
            <a:pPr algn="l">
              <a:buNone/>
              <a:defRPr sz="3900" b="1">
                <a:solidFill>
                  <a:srgbClr val="082A35"/>
                </a:solidFill>
              </a:defRPr>
            </a:pPr>
            <a:r>
              <a:rPr sz="3900" b="1">
                <a:solidFill>
                  <a:srgbClr val="082A35"/>
                </a:solidFill>
              </a:rPr>
              <a:t>проверяет и реагирует.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DBDD80-6A7F-491C-8BA8-F2291AF71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323850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29D3E8-E279-4CF4-99B9-E301BA138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005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8B82"/>
                </a:solidFill>
              </a:defRPr>
            </a:pPr>
            <a:r>
              <a:rPr sz="1800" b="1">
                <a:solidFill>
                  <a:srgbClr val="0D8B82"/>
                </a:solidFill>
              </a:rPr>
              <a:t>Государство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25293A-D69E-4B81-A3D5-665DAE898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76750"/>
            <a:ext cx="276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313B"/>
                </a:solidFill>
              </a:defRPr>
            </a:pPr>
            <a:r>
              <a:rPr sz="1350" b="0">
                <a:solidFill>
                  <a:srgbClr val="11313B"/>
                </a:solidFill>
              </a:rPr>
              <a:t>Экологические органы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1313B"/>
                </a:solidFill>
              </a:defRPr>
            </a:pPr>
            <a:r>
              <a:rPr sz="1350" b="0">
                <a:solidFill>
                  <a:srgbClr val="11313B"/>
                </a:solidFill>
              </a:rPr>
              <a:t>и службы реагирования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A3759A-50FF-4A1E-8F01-2EC79D879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714750"/>
            <a:ext cx="323850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3E69D3-675A-4588-BCB7-24A92C80E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0005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8B82"/>
                </a:solidFill>
              </a:defRPr>
            </a:pPr>
            <a:r>
              <a:rPr sz="1800" b="1">
                <a:solidFill>
                  <a:srgbClr val="0D8B82"/>
                </a:solidFill>
              </a:rPr>
              <a:t>Операторы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D5A3E3-E94B-49BE-BB5B-2A6EEF247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476750"/>
            <a:ext cx="276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313B"/>
                </a:solidFill>
              </a:defRPr>
            </a:pPr>
            <a:r>
              <a:rPr sz="1350" b="0">
                <a:solidFill>
                  <a:srgbClr val="11313B"/>
                </a:solidFill>
              </a:rPr>
              <a:t>Порты и нефтегазовые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1313B"/>
                </a:solidFill>
              </a:defRPr>
            </a:pPr>
            <a:r>
              <a:rPr sz="1350" b="0">
                <a:solidFill>
                  <a:srgbClr val="11313B"/>
                </a:solidFill>
              </a:rPr>
              <a:t>компании Каспия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94EA91-8A5A-4625-AB28-25327ACD7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714750"/>
            <a:ext cx="323850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31B4F5-493C-45E1-9460-C66F639AC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0005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8B82"/>
                </a:solidFill>
              </a:defRPr>
            </a:pPr>
            <a:r>
              <a:rPr sz="1800" b="1">
                <a:solidFill>
                  <a:srgbClr val="0D8B82"/>
                </a:solidFill>
              </a:rPr>
              <a:t>Эксперты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C1AD85-0652-4C91-9EFB-3D18FEAF0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476750"/>
            <a:ext cx="276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313B"/>
                </a:solidFill>
              </a:defRPr>
            </a:pPr>
            <a:r>
              <a:rPr sz="1350" b="0">
                <a:solidFill>
                  <a:srgbClr val="11313B"/>
                </a:solidFill>
              </a:rPr>
              <a:t>Учёные, НПО и центры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1313B"/>
                </a:solidFill>
              </a:defRPr>
            </a:pPr>
            <a:r>
              <a:rPr sz="1350" b="0">
                <a:solidFill>
                  <a:srgbClr val="11313B"/>
                </a:solidFill>
              </a:rPr>
              <a:t>дистанционного зондирования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3BB82E-08CD-47E3-82F4-86B1E98D4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082A35"/>
                </a:solidFill>
              </a:defRPr>
            </a:pPr>
            <a:r>
              <a:rPr sz="1725" b="1">
                <a:solidFill>
                  <a:srgbClr val="082A35"/>
                </a:solidFill>
              </a:rPr>
              <a:t>Пользователь получает сигнал для проверки, а не автоматический вердикт.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17ACF7-8FAF-41E6-9E1C-42BF5B2E4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55717A"/>
                </a:solidFill>
              </a:defRPr>
            </a:pPr>
            <a:r>
              <a:rPr sz="900" b="1">
                <a:solidFill>
                  <a:srgbClr val="55717A"/>
                </a:solidFill>
              </a:rPr>
              <a:t>CASPIAN GUARDIAN AI  /  05</a:t>
            </a:r>
          </a:p>
        </p:txBody>
      </p:sp>
    </p:spTree>
    <p:extLst>
      <p:ext uri="{BB962C8B-B14F-4D97-AF65-F5344CB8AC3E}">
        <p14:creationId xmlns:p14="http://schemas.microsoft.com/office/powerpoint/2010/main" val="35663211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EFF6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F5F888-202B-4016-BF86-9B4C8420C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D8B82"/>
                </a:solidFill>
              </a:defRPr>
            </a:pPr>
            <a:r>
              <a:rPr sz="1125" b="1">
                <a:solidFill>
                  <a:srgbClr val="0D8B82"/>
                </a:solidFill>
              </a:rPr>
              <a:t>ОСНОВНЫЕ ФУНКЦИИ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97259C-4EB7-4E9B-ABB4-4E7DFDB61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9334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082A35"/>
                </a:solidFill>
              </a:defRPr>
            </a:pPr>
            <a:r>
              <a:rPr sz="3900" b="1">
                <a:solidFill>
                  <a:srgbClr val="082A35"/>
                </a:solidFill>
              </a:rPr>
              <a:t>От новой сцены — до проверенного</a:t>
            </a:r>
          </a:p>
          <a:p xmlns:a="http://schemas.openxmlformats.org/drawingml/2006/main">
            <a:pPr algn="l">
              <a:buNone/>
              <a:defRPr sz="3900" b="1">
                <a:solidFill>
                  <a:srgbClr val="082A35"/>
                </a:solidFill>
              </a:defRPr>
            </a:pPr>
            <a:r>
              <a:rPr sz="3900" b="1">
                <a:solidFill>
                  <a:srgbClr val="082A35"/>
                </a:solidFill>
              </a:rPr>
              <a:t>экологического инцидента.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1CF714-6EEF-4B9C-845E-FD6631659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86125"/>
            <a:ext cx="10820400" cy="3810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B4B4DD-0E30-4C72-A630-959943BF1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718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82A35"/>
                </a:solidFill>
              </a:defRPr>
            </a:pPr>
            <a:r>
              <a:rPr sz="1350" b="1">
                <a:solidFill>
                  <a:srgbClr val="082A35"/>
                </a:solidFill>
              </a:rPr>
              <a:t>Мониторинг AOI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E1BB4D-CB8B-4EA5-A859-49DC612C7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3371850"/>
            <a:ext cx="6572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5717A"/>
                </a:solidFill>
              </a:defRPr>
            </a:pPr>
            <a:r>
              <a:rPr sz="1350" b="0">
                <a:solidFill>
                  <a:srgbClr val="55717A"/>
                </a:solidFill>
              </a:rPr>
              <a:t>поиск новых сцен каждые 1–3 часа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3428F7-3850-42A2-A96B-D9FAED294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00475"/>
            <a:ext cx="10820400" cy="3810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7AD612-0805-42A1-B3C1-6B619ABC1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862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82A35"/>
                </a:solidFill>
              </a:defRPr>
            </a:pPr>
            <a:r>
              <a:rPr sz="1350" b="1">
                <a:solidFill>
                  <a:srgbClr val="082A35"/>
                </a:solidFill>
              </a:rPr>
              <a:t>AI-скрининг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C2C377-06ED-4A12-AB9D-436277AF5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3886200"/>
            <a:ext cx="6572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5717A"/>
                </a:solidFill>
              </a:defRPr>
            </a:pPr>
            <a:r>
              <a:rPr sz="1350" b="0">
                <a:solidFill>
                  <a:srgbClr val="55717A"/>
                </a:solidFill>
              </a:rPr>
              <a:t>VV/VH анализ и геополигон сигнала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245E1E-3DDA-4315-83BF-CCBA00B7E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14825"/>
            <a:ext cx="10820400" cy="3810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691C18-3255-41D0-B84A-441A6C965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005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82A35"/>
                </a:solidFill>
              </a:defRPr>
            </a:pPr>
            <a:r>
              <a:rPr sz="1350" b="1">
                <a:solidFill>
                  <a:srgbClr val="082A35"/>
                </a:solidFill>
              </a:rPr>
              <a:t>Фильтры риска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CFA160-BCD3-47D4-AF1F-82797E43A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4400550"/>
            <a:ext cx="6572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5717A"/>
                </a:solidFill>
              </a:defRPr>
            </a:pPr>
            <a:r>
              <a:rPr sz="1350" b="0">
                <a:solidFill>
                  <a:srgbClr val="55717A"/>
                </a:solidFill>
              </a:rPr>
              <a:t>берег, площадь, форма, до/после и AIS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18D216-833F-4CD9-8C20-18FE4AF7D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29175"/>
            <a:ext cx="10820400" cy="3810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D7507C-CC2A-430D-BFB8-1FAD0FF5C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149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82A35"/>
                </a:solidFill>
              </a:defRPr>
            </a:pPr>
            <a:r>
              <a:rPr sz="1350" b="1">
                <a:solidFill>
                  <a:srgbClr val="082A35"/>
                </a:solidFill>
              </a:rPr>
              <a:t>Центр проверки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C78867-320E-4F07-A9E9-2E54CEA20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4914900"/>
            <a:ext cx="6572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5717A"/>
                </a:solidFill>
              </a:defRPr>
            </a:pPr>
            <a:r>
              <a:rPr sz="1350" b="0">
                <a:solidFill>
                  <a:srgbClr val="55717A"/>
                </a:solidFill>
              </a:rPr>
              <a:t>подтвердить, отклонить или эскалировать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4D0CC6-0C4B-4F62-AEAC-9F3444271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43525"/>
            <a:ext cx="10820400" cy="3810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5B65A8-225B-46BF-B62F-6B4572D24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4292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82A35"/>
                </a:solidFill>
              </a:defRPr>
            </a:pPr>
            <a:r>
              <a:rPr sz="1350" b="1">
                <a:solidFill>
                  <a:srgbClr val="082A35"/>
                </a:solidFill>
              </a:rPr>
              <a:t>Экспорт и alerts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2CDE06-22E2-409E-A7AC-83B5B0A4E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5429250"/>
            <a:ext cx="6572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5717A"/>
                </a:solidFill>
              </a:defRPr>
            </a:pPr>
            <a:r>
              <a:rPr sz="1350" b="0">
                <a:solidFill>
                  <a:srgbClr val="55717A"/>
                </a:solidFill>
              </a:rPr>
              <a:t>GeoJSON, PDF, Telegram, email и webhook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34BE55-E0D1-46ED-A4A9-E9FE51989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55717A"/>
                </a:solidFill>
              </a:defRPr>
            </a:pPr>
            <a:r>
              <a:rPr sz="900" b="1">
                <a:solidFill>
                  <a:srgbClr val="55717A"/>
                </a:solidFill>
              </a:rPr>
              <a:t>CASPIAN GUARDIAN AI  /  06</a:t>
            </a:r>
          </a:p>
        </p:txBody>
      </p:sp>
    </p:spTree>
    <p:extLst>
      <p:ext uri="{BB962C8B-B14F-4D97-AF65-F5344CB8AC3E}">
        <p14:creationId xmlns:p14="http://schemas.microsoft.com/office/powerpoint/2010/main" val="24544234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EFF6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F5F888-202B-4016-BF86-9B4C8420C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D8B82"/>
                </a:solidFill>
              </a:defRPr>
            </a:pPr>
            <a:r>
              <a:rPr sz="1125" b="1">
                <a:solidFill>
                  <a:srgbClr val="0D8B82"/>
                </a:solidFill>
              </a:rPr>
              <a:t>ТЕХНОЛОГИИ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97259C-4EB7-4E9B-ABB4-4E7DFDB61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9334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082A35"/>
                </a:solidFill>
              </a:defRPr>
            </a:pPr>
            <a:r>
              <a:rPr sz="3900" b="1">
                <a:solidFill>
                  <a:srgbClr val="082A35"/>
                </a:solidFill>
              </a:rPr>
              <a:t>Open-source стек готов к локальному</a:t>
            </a:r>
          </a:p>
          <a:p xmlns:a="http://schemas.openxmlformats.org/drawingml/2006/main">
            <a:pPr algn="l">
              <a:buNone/>
              <a:defRPr sz="3900" b="1">
                <a:solidFill>
                  <a:srgbClr val="082A35"/>
                </a:solidFill>
              </a:defRPr>
            </a:pPr>
            <a:r>
              <a:rPr sz="3900" b="1">
                <a:solidFill>
                  <a:srgbClr val="082A35"/>
                </a:solidFill>
              </a:rPr>
              <a:t>и облачному развёртыванию.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1CF714-6EEF-4B9C-845E-FD6631659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86125"/>
            <a:ext cx="10820400" cy="3810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B4B4DD-0E30-4C72-A630-959943BF1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718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82A35"/>
                </a:solidFill>
              </a:defRPr>
            </a:pPr>
            <a:r>
              <a:rPr sz="1350" b="1">
                <a:solidFill>
                  <a:srgbClr val="082A35"/>
                </a:solidFill>
              </a:rPr>
              <a:t>Спутники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E1BB4D-CB8B-4EA5-A859-49DC612C7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3371850"/>
            <a:ext cx="6572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5717A"/>
                </a:solidFill>
              </a:defRPr>
            </a:pPr>
            <a:r>
              <a:rPr sz="1350" b="0">
                <a:solidFill>
                  <a:srgbClr val="55717A"/>
                </a:solidFill>
              </a:rPr>
              <a:t>Sentinel-1, Earth Search и Copernicus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3428F7-3850-42A2-A96B-D9FAED294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00475"/>
            <a:ext cx="10820400" cy="3810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7AD612-0805-42A1-B3C1-6B619ABC1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862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82A35"/>
                </a:solidFill>
              </a:defRPr>
            </a:pPr>
            <a:r>
              <a:rPr sz="1350" b="1">
                <a:solidFill>
                  <a:srgbClr val="082A35"/>
                </a:solidFill>
              </a:rPr>
              <a:t>Backend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C2C377-06ED-4A12-AB9D-436277AF5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3886200"/>
            <a:ext cx="6572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5717A"/>
                </a:solidFill>
              </a:defRPr>
            </a:pPr>
            <a:r>
              <a:rPr sz="1350" b="0">
                <a:solidFill>
                  <a:srgbClr val="55717A"/>
                </a:solidFill>
              </a:rPr>
              <a:t>FastAPI, Celery и Redis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245E1E-3DDA-4315-83BF-CCBA00B7E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14825"/>
            <a:ext cx="10820400" cy="3810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691C18-3255-41D0-B84A-441A6C965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005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82A35"/>
                </a:solidFill>
              </a:defRPr>
            </a:pPr>
            <a:r>
              <a:rPr sz="1350" b="1">
                <a:solidFill>
                  <a:srgbClr val="082A35"/>
                </a:solidFill>
              </a:rPr>
              <a:t>Geo-хранилище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CFA160-BCD3-47D4-AF1F-82797E43A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4400550"/>
            <a:ext cx="6572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5717A"/>
                </a:solidFill>
              </a:defRPr>
            </a:pPr>
            <a:r>
              <a:rPr sz="1350" b="0">
                <a:solidFill>
                  <a:srgbClr val="55717A"/>
                </a:solidFill>
              </a:rPr>
              <a:t>PostGIS и MinIO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18D216-833F-4CD9-8C20-18FE4AF7D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29175"/>
            <a:ext cx="10820400" cy="3810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D7507C-CC2A-430D-BFB8-1FAD0FF5C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149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82A35"/>
                </a:solidFill>
              </a:defRPr>
            </a:pPr>
            <a:r>
              <a:rPr sz="1350" b="1">
                <a:solidFill>
                  <a:srgbClr val="082A35"/>
                </a:solidFill>
              </a:rPr>
              <a:t>AI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C78867-320E-4F07-A9E9-2E54CEA20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4914900"/>
            <a:ext cx="6572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5717A"/>
                </a:solidFill>
              </a:defRPr>
            </a:pPr>
            <a:r>
              <a:rPr sz="1350" b="0">
                <a:solidFill>
                  <a:srgbClr val="55717A"/>
                </a:solidFill>
              </a:rPr>
              <a:t>U-Net/ResNet34 и adaptive SAR baseline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4D0CC6-0C4B-4F62-AEAC-9F3444271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43525"/>
            <a:ext cx="10820400" cy="3810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5B65A8-225B-46BF-B62F-6B4572D24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4292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82A35"/>
                </a:solidFill>
              </a:defRPr>
            </a:pPr>
            <a:r>
              <a:rPr sz="1350" b="1">
                <a:solidFill>
                  <a:srgbClr val="082A35"/>
                </a:solidFill>
              </a:rPr>
              <a:t>Интерфейс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2CDE06-22E2-409E-A7AC-83B5B0A4E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5429250"/>
            <a:ext cx="6572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5717A"/>
                </a:solidFill>
              </a:defRPr>
            </a:pPr>
            <a:r>
              <a:rPr sz="1350" b="0">
                <a:solidFill>
                  <a:srgbClr val="55717A"/>
                </a:solidFill>
              </a:rPr>
              <a:t>React, TypeScript, Leaflet и Docker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34BE55-E0D1-46ED-A4A9-E9FE51989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55717A"/>
                </a:solidFill>
              </a:defRPr>
            </a:pPr>
            <a:r>
              <a:rPr sz="900" b="1">
                <a:solidFill>
                  <a:srgbClr val="55717A"/>
                </a:solidFill>
              </a:rPr>
              <a:t>CASPIAN GUARDIAN AI  /  07</a:t>
            </a:r>
          </a:p>
        </p:txBody>
      </p:sp>
    </p:spTree>
    <p:extLst>
      <p:ext uri="{BB962C8B-B14F-4D97-AF65-F5344CB8AC3E}">
        <p14:creationId xmlns:p14="http://schemas.microsoft.com/office/powerpoint/2010/main" val="24544234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278C513-1D3F-4BCA-98D9-76FB40845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D8B82"/>
                </a:solidFill>
              </a:defRPr>
            </a:pPr>
            <a:r>
              <a:rPr sz="1125" b="1">
                <a:solidFill>
                  <a:srgbClr val="0D8B82"/>
                </a:solidFill>
              </a:rPr>
              <a:t>РАБОЧИЙ MVP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45F1AC-16BD-45C4-A4D9-F266EC525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9334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082A35"/>
                </a:solidFill>
              </a:defRPr>
            </a:pPr>
            <a:r>
              <a:rPr sz="3900" b="1">
                <a:solidFill>
                  <a:srgbClr val="082A35"/>
                </a:solidFill>
              </a:rPr>
              <a:t>Не макет: полный контур обработки</a:t>
            </a:r>
          </a:p>
          <a:p xmlns:a="http://schemas.openxmlformats.org/drawingml/2006/main">
            <a:pPr algn="l">
              <a:buNone/>
              <a:defRPr sz="3900" b="1">
                <a:solidFill>
                  <a:srgbClr val="082A35"/>
                </a:solidFill>
              </a:defRPr>
            </a:pPr>
            <a:r>
              <a:rPr sz="3900" b="1">
                <a:solidFill>
                  <a:srgbClr val="082A35"/>
                </a:solidFill>
              </a:rPr>
              <a:t>и двухъязычный интерфейс.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239F0A-3F91-4EC9-999F-35D705B55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108204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082A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F98327-97CB-4D62-9BD3-76F519417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92E4DA"/>
                </a:solidFill>
              </a:defRPr>
            </a:pPr>
            <a:r>
              <a:rPr sz="1575" b="1">
                <a:solidFill>
                  <a:srgbClr val="92E4DA"/>
                </a:solidFill>
              </a:rPr>
              <a:t>Earth Search / Copernicus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587ADA-0970-48FE-808B-45F4A1A4A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1719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реальные Sentinel-1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0D1276-025D-4D2F-86D2-605DB5551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000500"/>
            <a:ext cx="333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E28E42"/>
                </a:solidFill>
              </a:defRPr>
            </a:pPr>
            <a:r>
              <a:rPr sz="1800" b="1">
                <a:solidFill>
                  <a:srgbClr val="E28E42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1688FB-280F-4A8D-A921-74EA51EE4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73380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92E4DA"/>
                </a:solidFill>
              </a:defRPr>
            </a:pPr>
            <a:r>
              <a:rPr sz="1575" b="1">
                <a:solidFill>
                  <a:srgbClr val="92E4DA"/>
                </a:solidFill>
              </a:rPr>
              <a:t>FastAPI + Celery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510031-4F68-456C-9F8C-A3CEF8432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41719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поиск и очередь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CB5843-98B0-4DB8-88F4-A0434DA0D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4000500"/>
            <a:ext cx="333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E28E42"/>
                </a:solidFill>
              </a:defRPr>
            </a:pPr>
            <a:r>
              <a:rPr sz="1800" b="1">
                <a:solidFill>
                  <a:srgbClr val="E28E42"/>
                </a:solidFill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F24E14-1953-410E-9ECA-066259F97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73380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92E4DA"/>
                </a:solidFill>
              </a:defRPr>
            </a:pPr>
            <a:r>
              <a:rPr sz="1575" b="1">
                <a:solidFill>
                  <a:srgbClr val="92E4DA"/>
                </a:solidFill>
              </a:rPr>
              <a:t>PostGIS + MinIO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87A6A0-F9A4-4ECF-9080-C731E5ECB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41719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сцены и геоданные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C50694-2C5B-4592-BEB2-CDD2ECAB1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000500"/>
            <a:ext cx="333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E28E42"/>
                </a:solidFill>
              </a:defRPr>
            </a:pPr>
            <a:r>
              <a:rPr sz="1800" b="1">
                <a:solidFill>
                  <a:srgbClr val="E28E42"/>
                </a:solidFill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CA90CA-2543-4DA6-826B-9C3E062A1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73380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92E4DA"/>
                </a:solidFill>
              </a:defRPr>
            </a:pPr>
            <a:r>
              <a:rPr sz="1575" b="1">
                <a:solidFill>
                  <a:srgbClr val="92E4DA"/>
                </a:solidFill>
              </a:rPr>
              <a:t>React / Leaflet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BC0518-7282-444D-AF27-E444BC7EA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41719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карта и review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1796F4-4FF5-4F6C-8D2D-82C77A8DD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72125"/>
            <a:ext cx="1082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D8B82"/>
                </a:solidFill>
              </a:defRPr>
            </a:pPr>
            <a:r>
              <a:rPr sz="1500" b="1">
                <a:solidFill>
                  <a:srgbClr val="0D8B82"/>
                </a:solidFill>
              </a:rPr>
              <a:t>RU / KZ  •  AOI-мониторинг  •  GeoJSON  •  PDF-отчёт  •  журнал операторских решений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C3F86C-5E15-4686-9E03-AFBC30B68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067050"/>
            <a:ext cx="11144250" cy="3190875"/>
          </a:xfrm>
          <a:prstGeom xmlns:a="http://schemas.openxmlformats.org/drawingml/2006/main" prst="roundRect">
            <a:avLst>
              <a:gd name="adj" fmla="val 35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397B21-6D9F-415C-B3FF-4D708C54D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337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D8B82"/>
                </a:solidFill>
              </a:defRPr>
            </a:pPr>
            <a:r>
              <a:rPr sz="1275" b="1">
                <a:solidFill>
                  <a:srgbClr val="0D8B82"/>
                </a:solidFill>
              </a:rPr>
              <a:t>LIVE-КОНТУР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F71FB2-8740-48D1-8F7B-80B5418BC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957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82A35"/>
                </a:solidFill>
              </a:defRPr>
            </a:pPr>
            <a:r>
              <a:rPr sz="1800" b="1">
                <a:solidFill>
                  <a:srgbClr val="082A35"/>
                </a:solidFill>
              </a:rPr>
              <a:t>Sentinel-1 → очередь → PostGIS / MinIO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33E226-E49A-4F65-9103-47E4A07E8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10050"/>
            <a:ext cx="4000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5717A"/>
                </a:solidFill>
              </a:defRPr>
            </a:pPr>
            <a:r>
              <a:rPr sz="1350" b="0">
                <a:solidFill>
                  <a:srgbClr val="55717A"/>
                </a:solidFill>
              </a:rPr>
              <a:t>Свежая сцена Sentinel-1D от 6 августа 2026 найдена через Earth Search. Интерфейс показывает источник, дату, VV/VH и экспериментальный статус модели.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DCA37C-E163-43D2-9013-07E1AA671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7210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E28E42"/>
                </a:solidFill>
              </a:defRPr>
            </a:pPr>
            <a:r>
              <a:rPr sz="1275" b="1">
                <a:solidFill>
                  <a:srgbClr val="E28E42"/>
                </a:solidFill>
              </a:rPr>
              <a:t>19 backend-тестов  •  RU / KZ  •  без demo fallback</a:t>
            </a:r>
          </a:p>
        </p:txBody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47fa03f658449d"/>
          <a:srcRect xmlns:a="http://schemas.openxmlformats.org/drawingml/2006/main" l="0" t="29023" r="0" b="2902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95875" y="3219450"/>
            <a:ext cx="6286500" cy="2714625"/>
          </a:xfrm>
          <a:prstGeom xmlns:a="http://schemas.openxmlformats.org/drawingml/2006/main" prst="roundRect">
            <a:avLst>
              <a:gd name="adj" fmla="val 4211"/>
            </a:avLst>
          </a:prstGeom>
        </p:spPr>
      </p:pic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434754C-E80C-4B21-A627-92C594A6F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55717A"/>
                </a:solidFill>
              </a:defRPr>
            </a:pPr>
            <a:r>
              <a:rPr sz="900" b="1">
                <a:solidFill>
                  <a:srgbClr val="55717A"/>
                </a:solidFill>
              </a:rPr>
              <a:t>CASPIAN GUARDIAN AI  /  08</a:t>
            </a:r>
          </a:p>
        </p:txBody>
      </p:sp>
    </p:spTree>
    <p:extLst>
      <p:ext uri="{BB962C8B-B14F-4D97-AF65-F5344CB8AC3E}">
        <p14:creationId xmlns:p14="http://schemas.microsoft.com/office/powerpoint/2010/main" val="14809744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6A3F93-409F-4165-9D66-4E37AE76F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D8B82"/>
                </a:solidFill>
              </a:defRPr>
            </a:pPr>
            <a:r>
              <a:rPr sz="1125" b="1">
                <a:solidFill>
                  <a:srgbClr val="0D8B82"/>
                </a:solidFill>
              </a:rPr>
              <a:t>ЭКОЛОГИЧЕСКИЙ ЭФФЕКТ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7183AC-A832-4B2D-8825-42C052175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9334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082A35"/>
                </a:solidFill>
              </a:defRPr>
            </a:pPr>
            <a:r>
              <a:rPr sz="3900" b="1">
                <a:solidFill>
                  <a:srgbClr val="082A35"/>
                </a:solidFill>
              </a:rPr>
              <a:t>Ранний скрининг помогает быстрее</a:t>
            </a:r>
          </a:p>
          <a:p xmlns:a="http://schemas.openxmlformats.org/drawingml/2006/main">
            <a:pPr algn="l">
              <a:buNone/>
              <a:defRPr sz="3900" b="1">
                <a:solidFill>
                  <a:srgbClr val="082A35"/>
                </a:solidFill>
              </a:defRPr>
            </a:pPr>
            <a:r>
              <a:rPr sz="3900" b="1">
                <a:solidFill>
                  <a:srgbClr val="082A35"/>
                </a:solidFill>
              </a:rPr>
              <a:t>направлять ресурсы на проверку.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3068A9-CFD3-4521-96E4-05F5AFC2C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323850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EFF6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291A1C-B391-4CD7-8380-213E3D37A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814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8B82"/>
                </a:solidFill>
              </a:defRPr>
            </a:pPr>
            <a:r>
              <a:rPr sz="1800" b="1">
                <a:solidFill>
                  <a:srgbClr val="0D8B82"/>
                </a:solidFill>
              </a:rPr>
              <a:t>Скорость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7322B2-E0AD-4F8F-8BB2-C1B988DD5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4817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1313B"/>
                </a:solidFill>
              </a:defRPr>
            </a:pPr>
            <a:r>
              <a:rPr sz="1425" b="0">
                <a:solidFill>
                  <a:srgbClr val="11313B"/>
                </a:solidFill>
              </a:rPr>
              <a:t>быстрее заметить новую потенциальную угрозу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E02214-42BA-4FDB-BA28-F74012784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714750"/>
            <a:ext cx="323850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EFF6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C8D25F-0CBB-4D37-BBDC-BEED33D82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9814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8B82"/>
                </a:solidFill>
              </a:defRPr>
            </a:pPr>
            <a:r>
              <a:rPr sz="1800" b="1">
                <a:solidFill>
                  <a:srgbClr val="0D8B82"/>
                </a:solidFill>
              </a:rPr>
              <a:t>Охват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85AAB2-D186-498B-AB5E-8192AB455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44817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1313B"/>
                </a:solidFill>
              </a:defRPr>
            </a:pPr>
            <a:r>
              <a:rPr sz="1425" b="0">
                <a:solidFill>
                  <a:srgbClr val="11313B"/>
                </a:solidFill>
              </a:rPr>
              <a:t>регулярно наблюдать крупные акватории и AOI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1B5803-72F4-4A0F-AFF5-F877A9237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714750"/>
            <a:ext cx="323850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EFF6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D59A19-DC79-4CCF-A650-9D84E462C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9814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8B82"/>
                </a:solidFill>
              </a:defRPr>
            </a:pPr>
            <a:r>
              <a:rPr sz="1800" b="1">
                <a:solidFill>
                  <a:srgbClr val="0D8B82"/>
                </a:solidFill>
              </a:rPr>
              <a:t>Контроль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E2E558-CF01-4632-AC65-FDD53E797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44817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1313B"/>
                </a:solidFill>
              </a:defRPr>
            </a:pPr>
            <a:r>
              <a:rPr sz="1425" b="0">
                <a:solidFill>
                  <a:srgbClr val="11313B"/>
                </a:solidFill>
              </a:rPr>
              <a:t>сохранять доказательства и историю решений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729C39-6B6F-4E19-9E68-2644D78E6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55717A"/>
                </a:solidFill>
              </a:defRPr>
            </a:pPr>
            <a:r>
              <a:rPr sz="900" b="1">
                <a:solidFill>
                  <a:srgbClr val="55717A"/>
                </a:solidFill>
              </a:rPr>
              <a:t>CASPIAN GUARDIAN AI  /  09</a:t>
            </a:r>
          </a:p>
        </p:txBody>
      </p:sp>
    </p:spTree>
    <p:extLst>
      <p:ext uri="{BB962C8B-B14F-4D97-AF65-F5344CB8AC3E}">
        <p14:creationId xmlns:p14="http://schemas.microsoft.com/office/powerpoint/2010/main" val="127190553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EFF6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DFEFDF-669F-4A3A-A760-CADBEC2C6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D8B82"/>
                </a:solidFill>
              </a:defRPr>
            </a:pPr>
            <a:r>
              <a:rPr sz="1125" b="1">
                <a:solidFill>
                  <a:srgbClr val="0D8B82"/>
                </a:solidFill>
              </a:rPr>
              <a:t>РАЗВИТИЕ И ВНЕДРЕНИЕ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6D691A-A74F-4C53-882B-3DCFFAE59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9334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082A35"/>
                </a:solidFill>
              </a:defRPr>
            </a:pPr>
            <a:r>
              <a:rPr sz="3900" b="1">
                <a:solidFill>
                  <a:srgbClr val="082A35"/>
                </a:solidFill>
              </a:rPr>
              <a:t>Путь к промышленному сервису</a:t>
            </a:r>
          </a:p>
          <a:p xmlns:a="http://schemas.openxmlformats.org/drawingml/2006/main">
            <a:pPr algn="l">
              <a:buNone/>
              <a:defRPr sz="3900" b="1">
                <a:solidFill>
                  <a:srgbClr val="082A35"/>
                </a:solidFill>
              </a:defRPr>
            </a:pPr>
            <a:r>
              <a:rPr sz="3900" b="1">
                <a:solidFill>
                  <a:srgbClr val="082A35"/>
                </a:solidFill>
              </a:rPr>
              <a:t>начинается с пилота на Каспии.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DBDD80-6A7F-491C-8BA8-F2291AF71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323850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29D3E8-E279-4CF4-99B9-E301BA138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005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8B82"/>
                </a:solidFill>
              </a:defRPr>
            </a:pPr>
            <a:r>
              <a:rPr sz="1800" b="1">
                <a:solidFill>
                  <a:srgbClr val="0D8B82"/>
                </a:solidFill>
              </a:rPr>
              <a:t>0–3 месяца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25293A-D69E-4B81-A3D5-665DAE898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76750"/>
            <a:ext cx="276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313B"/>
                </a:solidFill>
              </a:defRPr>
            </a:pPr>
            <a:r>
              <a:rPr sz="1350" b="0">
                <a:solidFill>
                  <a:srgbClr val="11313B"/>
                </a:solidFill>
              </a:rPr>
              <a:t>Пилот в Актау, Тенгизе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1313B"/>
                </a:solidFill>
              </a:defRPr>
            </a:pPr>
            <a:r>
              <a:rPr sz="1350" b="0">
                <a:solidFill>
                  <a:srgbClr val="11313B"/>
                </a:solidFill>
              </a:rPr>
              <a:t>и Кашагане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A3759A-50FF-4A1E-8F01-2EC79D879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714750"/>
            <a:ext cx="323850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3E69D3-675A-4588-BCB7-24A92C80E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0005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8B82"/>
                </a:solidFill>
              </a:defRPr>
            </a:pPr>
            <a:r>
              <a:rPr sz="1800" b="1">
                <a:solidFill>
                  <a:srgbClr val="0D8B82"/>
                </a:solidFill>
              </a:rPr>
              <a:t>3–6 месяцев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D5A3E3-E94B-49BE-BB5B-2A6EEF247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476750"/>
            <a:ext cx="276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313B"/>
                </a:solidFill>
              </a:defRPr>
            </a:pPr>
            <a:r>
              <a:rPr sz="1350" b="0">
                <a:solidFill>
                  <a:srgbClr val="11313B"/>
                </a:solidFill>
              </a:rPr>
              <a:t>Разметка данных и валидация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1313B"/>
                </a:solidFill>
              </a:defRPr>
            </a:pPr>
            <a:r>
              <a:rPr sz="1350" b="0">
                <a:solidFill>
                  <a:srgbClr val="11313B"/>
                </a:solidFill>
              </a:rPr>
              <a:t>модели по районам и датам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94EA91-8A5A-4625-AB28-25327ACD7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714750"/>
            <a:ext cx="323850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31B4F5-493C-45E1-9460-C66F639AC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0005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8B82"/>
                </a:solidFill>
              </a:defRPr>
            </a:pPr>
            <a:r>
              <a:rPr sz="1800" b="1">
                <a:solidFill>
                  <a:srgbClr val="0D8B82"/>
                </a:solidFill>
              </a:rPr>
              <a:t>6–12 месяцев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C1AD85-0652-4C91-9EFB-3D18FEAF0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476750"/>
            <a:ext cx="276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313B"/>
                </a:solidFill>
              </a:defRPr>
            </a:pPr>
            <a:r>
              <a:rPr sz="1350" b="0">
                <a:solidFill>
                  <a:srgbClr val="11313B"/>
                </a:solidFill>
              </a:rPr>
              <a:t>Интеграции, роли организаций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1313B"/>
                </a:solidFill>
              </a:defRPr>
            </a:pPr>
            <a:r>
              <a:rPr sz="1350" b="0">
                <a:solidFill>
                  <a:srgbClr val="11313B"/>
                </a:solidFill>
              </a:rPr>
              <a:t>и масштабирование AOI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3BB82E-08CD-47E3-82F4-86B1E98D4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082A35"/>
                </a:solidFill>
              </a:defRPr>
            </a:pPr>
            <a:r>
              <a:rPr sz="1725" b="1">
                <a:solidFill>
                  <a:srgbClr val="082A35"/>
                </a:solidFill>
              </a:rPr>
              <a:t>Цель внедрения: единый проверяемый контур экологического мониторинга Каспия.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17ACF7-8FAF-41E6-9E1C-42BF5B2E4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55717A"/>
                </a:solidFill>
              </a:defRPr>
            </a:pPr>
            <a:r>
              <a:rPr sz="900" b="1">
                <a:solidFill>
                  <a:srgbClr val="55717A"/>
                </a:solidFill>
              </a:rPr>
              <a:t>CASPIAN GUARDIAN AI  /  10</a:t>
            </a:r>
          </a:p>
        </p:txBody>
      </p:sp>
    </p:spTree>
    <p:extLst>
      <p:ext uri="{BB962C8B-B14F-4D97-AF65-F5344CB8AC3E}">
        <p14:creationId xmlns:p14="http://schemas.microsoft.com/office/powerpoint/2010/main" val="35663211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2026-08-07T12:40:55.0590000Z</dcterms:created>
  <dcterms:modified xsi:type="dcterms:W3CDTF">2026-08-07T12:40:55.0590000Z</dcterms:modified>
</coreProperties>
</file>
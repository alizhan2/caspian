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eb0d0bd124666" /><Relationship Type="http://schemas.openxmlformats.org/officeDocument/2006/relationships/extended-properties" Target="/docProps/app.xml" Id="R6f0174493b6e4823" /><Relationship Type="http://schemas.openxmlformats.org/officeDocument/2006/relationships/officeDocument" Target="/ppt/presentation.xml" Id="R53a478fed1c4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25b11557a74294"/>
  </p:sldMasterIdLst>
  <p:notesMasterIdLst>
    <p:notesMasterId xmlns:r="http://schemas.openxmlformats.org/officeDocument/2006/relationships" r:id="Re2e4c2c461944bf1"/>
  </p:notesMasterIdLst>
  <p:sldIdLst>
    <p:sldId xmlns:r="http://schemas.openxmlformats.org/officeDocument/2006/relationships" id="256" r:id="R6cbed4c1980440b2"/>
    <p:sldId xmlns:r="http://schemas.openxmlformats.org/officeDocument/2006/relationships" id="257" r:id="R427fc8cffe204701"/>
    <p:sldId xmlns:r="http://schemas.openxmlformats.org/officeDocument/2006/relationships" id="258" r:id="R64f9c7a8dc254185"/>
    <p:sldId xmlns:r="http://schemas.openxmlformats.org/officeDocument/2006/relationships" id="259" r:id="Ra110d93bcb094979"/>
    <p:sldId xmlns:r="http://schemas.openxmlformats.org/officeDocument/2006/relationships" id="260" r:id="R36d77badc30949d8"/>
    <p:sldId xmlns:r="http://schemas.openxmlformats.org/officeDocument/2006/relationships" id="261" r:id="Rbdb60c763d104651"/>
    <p:sldId xmlns:r="http://schemas.openxmlformats.org/officeDocument/2006/relationships" id="262" r:id="Ra3c1f1c993eb4b23"/>
    <p:sldId xmlns:r="http://schemas.openxmlformats.org/officeDocument/2006/relationships" id="263" r:id="R6139b7032d0147c6"/>
    <p:sldId xmlns:r="http://schemas.openxmlformats.org/officeDocument/2006/relationships" id="264" r:id="R69eb220b01f54536"/>
    <p:sldId xmlns:r="http://schemas.openxmlformats.org/officeDocument/2006/relationships" id="265" r:id="R989550bd772d4c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092fa4c944cfc" /><Relationship Type="http://schemas.openxmlformats.org/officeDocument/2006/relationships/slideMaster" Target="/ppt/slideMasters/slideMaster1.xml" Id="Rda25b11557a74294" /><Relationship Type="http://schemas.openxmlformats.org/officeDocument/2006/relationships/notesMaster" Target="/ppt/notesMasters/notesMaster1.xml" Id="Re2e4c2c461944bf1" /><Relationship Type="http://schemas.openxmlformats.org/officeDocument/2006/relationships/presProps" Target="/ppt/presProps.xml" Id="R10ee4498a8ea4ec7" /><Relationship Type="http://schemas.openxmlformats.org/officeDocument/2006/relationships/tableStyles" Target="/ppt/tableStyles.xml" Id="R7fd4d6aa45664d27" /><Relationship Type="http://schemas.openxmlformats.org/officeDocument/2006/relationships/slide" Target="/ppt/slides/slide1.xml" Id="R6cbed4c1980440b2" /><Relationship Type="http://schemas.openxmlformats.org/officeDocument/2006/relationships/slide" Target="/ppt/slides/slide2.xml" Id="R427fc8cffe204701" /><Relationship Type="http://schemas.openxmlformats.org/officeDocument/2006/relationships/slide" Target="/ppt/slides/slide3.xml" Id="R64f9c7a8dc254185" /><Relationship Type="http://schemas.openxmlformats.org/officeDocument/2006/relationships/slide" Target="/ppt/slides/slide4.xml" Id="Ra110d93bcb094979" /><Relationship Type="http://schemas.openxmlformats.org/officeDocument/2006/relationships/slide" Target="/ppt/slides/slide5.xml" Id="R36d77badc30949d8" /><Relationship Type="http://schemas.openxmlformats.org/officeDocument/2006/relationships/slide" Target="/ppt/slides/slide6.xml" Id="Rbdb60c763d104651" /><Relationship Type="http://schemas.openxmlformats.org/officeDocument/2006/relationships/slide" Target="/ppt/slides/slide7.xml" Id="Ra3c1f1c993eb4b23" /><Relationship Type="http://schemas.openxmlformats.org/officeDocument/2006/relationships/slide" Target="/ppt/slides/slide8.xml" Id="R6139b7032d0147c6" /><Relationship Type="http://schemas.openxmlformats.org/officeDocument/2006/relationships/slide" Target="/ppt/slides/slide9.xml" Id="R69eb220b01f54536" /><Relationship Type="http://schemas.openxmlformats.org/officeDocument/2006/relationships/slide" Target="/ppt/slides/slide10.xml" Id="R989550bd772d4c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b300648228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e30e88d124e49" /><Relationship Type="http://schemas.openxmlformats.org/officeDocument/2006/relationships/notesMaster" Target="/ppt/notesMasters/notesMaster1.xml" Id="Rda43c26a722c4e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69c4f19d44874" /><Relationship Type="http://schemas.openxmlformats.org/officeDocument/2006/relationships/notesMaster" Target="/ppt/notesMasters/notesMaster1.xml" Id="R4f5b178dd6624d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27710fc0b24b77" /><Relationship Type="http://schemas.openxmlformats.org/officeDocument/2006/relationships/notesMaster" Target="/ppt/notesMasters/notesMaster1.xml" Id="R44e95643564a4b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11eec1dee14452" /><Relationship Type="http://schemas.openxmlformats.org/officeDocument/2006/relationships/notesMaster" Target="/ppt/notesMasters/notesMaster1.xml" Id="R174060d662584c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3f00c7191c45e1" /><Relationship Type="http://schemas.openxmlformats.org/officeDocument/2006/relationships/notesMaster" Target="/ppt/notesMasters/notesMaster1.xml" Id="R70f91171e0ee4c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e3e38deef44d9d" /><Relationship Type="http://schemas.openxmlformats.org/officeDocument/2006/relationships/notesMaster" Target="/ppt/notesMasters/notesMaster1.xml" Id="Rc9d10550f45a42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c38bab0e564eb1" /><Relationship Type="http://schemas.openxmlformats.org/officeDocument/2006/relationships/notesMaster" Target="/ppt/notesMasters/notesMaster1.xml" Id="Rc7ef5323468b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d5a12661ef4086" /><Relationship Type="http://schemas.openxmlformats.org/officeDocument/2006/relationships/notesMaster" Target="/ppt/notesMasters/notesMaster1.xml" Id="R2eb82602ba2941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c82d26811140b9" /><Relationship Type="http://schemas.openxmlformats.org/officeDocument/2006/relationships/notesMaster" Target="/ppt/notesMasters/notesMaster1.xml" Id="R270b089379e542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296755114f4e39" /><Relationship Type="http://schemas.openxmlformats.org/officeDocument/2006/relationships/notesMaster" Target="/ppt/notesMasters/notesMaster1.xml" Id="R08e50057ab2b4b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https://github.com/Alizhan2/Caspian</a:t>
            </a:r>
          </a:p>
          <a:p xmlns:a="http://schemas.openxmlformats.org/drawingml/2006/main">
            <a:r>
              <a:t>- Verified cloud MVP: https://caspian-guardian-live-r4wxrq4vpwq7cxvvq-5173.app.github.dev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08be687284e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fc9ca148724675" /><Relationship Type="http://schemas.openxmlformats.org/officeDocument/2006/relationships/slideLayout" Target="/ppt/slideLayouts/slideLayout1.xml" Id="R3e38c274790d46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8c274790d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bd746683b4aa7" /><Relationship Type="http://schemas.openxmlformats.org/officeDocument/2006/relationships/notesSlide" Target="/ppt/notesSlides/notesSlide1.xml" Id="R89eb203366ea49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dea1e74254b7e" /><Relationship Type="http://schemas.openxmlformats.org/officeDocument/2006/relationships/notesSlide" Target="/ppt/notesSlides/notesSlide2.xml" Id="R7896c4ca56154c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f9eff1b794eb7" /><Relationship Type="http://schemas.openxmlformats.org/officeDocument/2006/relationships/notesSlide" Target="/ppt/notesSlides/notesSlide3.xml" Id="Re0fe9da0644941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a6dc02bf24015" /><Relationship Type="http://schemas.openxmlformats.org/officeDocument/2006/relationships/notesSlide" Target="/ppt/notesSlides/notesSlide4.xml" Id="R3afb40d5c88b4a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f6bc3972b4ca9" /><Relationship Type="http://schemas.openxmlformats.org/officeDocument/2006/relationships/notesSlide" Target="/ppt/notesSlides/notesSlide5.xml" Id="R87e9cec93b124b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8649f70a94bcb" /><Relationship Type="http://schemas.openxmlformats.org/officeDocument/2006/relationships/notesSlide" Target="/ppt/notesSlides/notesSlide6.xml" Id="Ra02c56be7fab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4796db30d4ffb" /><Relationship Type="http://schemas.openxmlformats.org/officeDocument/2006/relationships/notesSlide" Target="/ppt/notesSlides/notesSlide7.xml" Id="R4bbb43b20bd1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11cc9a2dd48a2" /><Relationship Type="http://schemas.openxmlformats.org/officeDocument/2006/relationships/image" Target="/ppt/media/image.jpeg" Id="Re75905fac929462a" /><Relationship Type="http://schemas.openxmlformats.org/officeDocument/2006/relationships/notesSlide" Target="/ppt/notesSlides/notesSlide8.xml" Id="Rf3c50c85180340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43c71811c42d5" /><Relationship Type="http://schemas.openxmlformats.org/officeDocument/2006/relationships/notesSlide" Target="/ppt/notesSlides/notesSlide9.xml" Id="R696daa7b7d9b49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2389bea594b1a" /><Relationship Type="http://schemas.openxmlformats.org/officeDocument/2006/relationships/notesSlide" Target="/ppt/notesSlides/notesSlide10.xml" Id="R686eb11aa6804c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3F300-4D90-4585-AE4C-40C79D37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29F73-6FBA-4235-8D92-1B676B7E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71427-DD39-47FC-9B34-1457EF24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CASPIAN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GUARDIAN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EFBD1-1C88-494C-84D2-34288C3F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2E4DA"/>
                </a:solidFill>
              </a:defRPr>
            </a:pPr>
            <a:r>
              <a:rPr sz="1875" b="0">
                <a:solidFill>
                  <a:srgbClr val="92E4DA"/>
                </a:solidFill>
              </a:rPr>
              <a:t>Спутниковый скрининг экологических рисков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92E4DA"/>
                </a:solidFill>
              </a:defRPr>
            </a:pPr>
            <a:r>
              <a:rPr sz="1875" b="0">
                <a:solidFill>
                  <a:srgbClr val="92E4DA"/>
                </a:solidFill>
              </a:rPr>
              <a:t>для Каспийского моря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AD3FA-9D89-4A32-8526-FDF9AA05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324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28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00615-AFE7-4C7A-9190-F7CFA7AB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2A35"/>
                </a:solidFill>
              </a:defRPr>
            </a:pPr>
            <a:r>
              <a:rPr sz="1650" b="1">
                <a:solidFill>
                  <a:srgbClr val="082A35"/>
                </a:solidFill>
              </a:rPr>
              <a:t>Команда: Python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09C8A-FDFD-4E99-9B68-C7D7B34A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CD6D3"/>
                </a:solidFill>
              </a:defRPr>
            </a:pPr>
            <a:r>
              <a:rPr sz="1275" b="1">
                <a:solidFill>
                  <a:srgbClr val="BCD6D3"/>
                </a:solidFill>
              </a:rPr>
              <a:t>Рабочий MVP  •  Sentinel-1  •  Open-source AI  •  GIS</a:t>
            </a:r>
          </a:p>
        </p:txBody>
      </p:sp>
    </p:spTree>
    <p:extLst>
      <p:ext uri="{BB962C8B-B14F-4D97-AF65-F5344CB8AC3E}">
        <p14:creationId xmlns:p14="http://schemas.microsoft.com/office/powerpoint/2010/main" val="172711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A3F93-409F-4165-9D66-4E37AE76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183AC-A832-4B2D-8825-42C0521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Экологический риск виден поздно —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а проверка начинается без приоритета.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068A9-CFD3-4521-96E4-05F5AFC2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91A1C-B391-4CD7-8380-213E3D3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Снимки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322B2-E0AD-4F8F-8BB2-C1B988D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SAR-сцены сложны для ручной интерпретации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02214-42BA-4FDB-BA28-F740127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8D25F-0CBB-4D37-BBDC-BEED33D8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5AAB2-D186-498B-AB5E-8192AB4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Не хватает единой цепочки: сцена → сигнал → проверка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B5803-72F4-4A0F-AFF5-F877A923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59A19-DC79-4CCF-A650-9D84E462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2E558-CF01-4632-AC65-FDD53E7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Тёмные области на SAR могут быть не разливом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29C39-6B6F-4E19-9E68-2644D78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02</a:t>
            </a:r>
          </a:p>
        </p:txBody>
      </p:sp>
    </p:spTree>
    <p:extLst>
      <p:ext uri="{BB962C8B-B14F-4D97-AF65-F5344CB8AC3E}">
        <p14:creationId xmlns:p14="http://schemas.microsoft.com/office/powerpoint/2010/main" val="1271905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FEFDF-669F-4A3A-A760-CADBEC2C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ЦЕЛЬ И 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D691A-A74F-4C53-882B-3DCFFAE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Сократить путь от спутниковой сцены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до проверяемого экологического сигнала.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DD80-6A7F-491C-8BA8-F2291AF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D3E8-E279-4CF4-99B9-E301BA1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Обнаруживать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293A-D69E-4B81-A3D5-665DAE8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Новая Sentinel-1 сцена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в сохранённой AOI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759A-50FF-4A1E-8F01-2EC79D8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E69D3-675A-4588-BCB7-24A92C80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Приоритизировать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5A3E3-E94B-49BE-BB5B-2A6EEF2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AI выделяет зоны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для быстрой проверки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4EA91-8A5A-4625-AB28-25327AC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B4F5-493C-45E1-9460-C66F639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Подтверждать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AD85-0652-4C91-9EFB-3D18FEAF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Оператор принимает решение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и сохраняет историю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BB82E-08CD-47E3-82F4-86B1E98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2A35"/>
                </a:solidFill>
              </a:defRPr>
            </a:pPr>
            <a:r>
              <a:rPr sz="1725" b="1">
                <a:solidFill>
                  <a:srgbClr val="082A35"/>
                </a:solidFill>
              </a:rPr>
              <a:t>Актуальность: Каспию нужен регулярный мониторинг больших акваторий.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7ACF7-8FAF-41E6-9E1C-42BF5B2E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03</a:t>
            </a:r>
          </a:p>
        </p:txBody>
      </p:sp>
    </p:spTree>
    <p:extLst>
      <p:ext uri="{BB962C8B-B14F-4D97-AF65-F5344CB8AC3E}">
        <p14:creationId xmlns:p14="http://schemas.microsoft.com/office/powerpoint/2010/main" val="356632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D7CE8-7B54-4A7E-BA67-96CC57A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98EDD-A463-4000-837C-4B8933EB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Caspian Guardian AI превращает новую сцену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в прозрачный план проверки.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2CF2-D7C5-4432-9232-35F4BFEB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B984F-D90A-47BE-9EBA-2F639505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8D682-B725-40AB-9071-6EC5775D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Находит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EBEC7-DAEE-4FE7-B8BC-CBD8ADAB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последнюю Sentinel-1 GRD сцену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8963D-D1C8-4964-916E-6EA074F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815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D8B82"/>
                </a:solidFill>
              </a:defRPr>
            </a:pPr>
            <a:r>
              <a:rPr sz="19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FD188-D05D-48DE-9DAA-9663B106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F4BAA-AB17-43FF-9CBA-0F63F2E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9E2F0-EB42-48D2-9B1D-7590021F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Анализирует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F807B-3A56-40C6-B031-99BBFC8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VV/VH каналы локальной open-source моделью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15DE9-26E9-4D63-8169-41BF1B07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D8B82"/>
                </a:solidFill>
              </a:defRPr>
            </a:pPr>
            <a:r>
              <a:rPr sz="19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D55AD-9CA5-4FC9-A42E-E1B4BF6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DDE87-4B36-4997-AA03-6E21395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163D4-DB5F-42D8-8ECB-8D066920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Проверяет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6E871-D7DB-40CB-8718-9878952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берег, площадь, историю и контекст судов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C0C91-87BF-4BCB-9A89-9F609C80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815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D8B82"/>
                </a:solidFill>
              </a:defRPr>
            </a:pPr>
            <a:r>
              <a:rPr sz="1950" b="1">
                <a:solidFill>
                  <a:srgbClr val="0D8B8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01CA5-2F8F-448E-807F-F87353B7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305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F7ABF-0FF5-468A-BAB4-00B87D7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28E42"/>
                </a:solidFill>
              </a:defRPr>
            </a:pPr>
            <a:r>
              <a:rPr sz="1350" b="1">
                <a:solidFill>
                  <a:srgbClr val="E28E4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3BD4C-5295-4301-BF7A-F8C0E368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Передаёт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AF278-9CCB-4805-B973-71A1D54E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767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717A"/>
                </a:solidFill>
              </a:defRPr>
            </a:pPr>
            <a:r>
              <a:rPr sz="1275" b="0">
                <a:solidFill>
                  <a:srgbClr val="55717A"/>
                </a:solidFill>
              </a:rPr>
              <a:t>оператору GeoJSON, отчёт и действия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F0C53-975E-452B-A048-32B6435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04</a:t>
            </a:r>
          </a:p>
        </p:txBody>
      </p:sp>
    </p:spTree>
    <p:extLst>
      <p:ext uri="{BB962C8B-B14F-4D97-AF65-F5344CB8AC3E}">
        <p14:creationId xmlns:p14="http://schemas.microsoft.com/office/powerpoint/2010/main" val="304242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FEFDF-669F-4A3A-A760-CADBEC2C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ЦЕЛЕВАЯ АУДИТОРИЯ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D691A-A74F-4C53-882B-3DCFFAE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Платформа объединяет тех, кто наблюдает,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проверяет и реагирует.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DD80-6A7F-491C-8BA8-F2291AF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D3E8-E279-4CF4-99B9-E301BA1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Государство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293A-D69E-4B81-A3D5-665DAE8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Экологические органы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и службы реагирования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759A-50FF-4A1E-8F01-2EC79D8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E69D3-675A-4588-BCB7-24A92C80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Операторы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5A3E3-E94B-49BE-BB5B-2A6EEF2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Порты и нефтегазовые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компании Каспия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4EA91-8A5A-4625-AB28-25327AC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B4F5-493C-45E1-9460-C66F639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Эксперты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AD85-0652-4C91-9EFB-3D18FEAF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Учёные, НПО и центры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дистанционного зондирования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BB82E-08CD-47E3-82F4-86B1E98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2A35"/>
                </a:solidFill>
              </a:defRPr>
            </a:pPr>
            <a:r>
              <a:rPr sz="1725" b="1">
                <a:solidFill>
                  <a:srgbClr val="082A35"/>
                </a:solidFill>
              </a:rPr>
              <a:t>Пользователь получает сигнал для проверки, а не автоматический вердикт.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7ACF7-8FAF-41E6-9E1C-42BF5B2E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05</a:t>
            </a:r>
          </a:p>
        </p:txBody>
      </p:sp>
    </p:spTree>
    <p:extLst>
      <p:ext uri="{BB962C8B-B14F-4D97-AF65-F5344CB8AC3E}">
        <p14:creationId xmlns:p14="http://schemas.microsoft.com/office/powerpoint/2010/main" val="356632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5F888-202B-4016-BF86-9B4C8420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ОСНОВНЫЕ ФУНКЦИИ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259C-4EB7-4E9B-ABB4-4E7DFDB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От новой сцены — до проверенного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экологического инцидента.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CF714-6EEF-4B9C-845E-FD663165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B4DD-0E30-4C72-A630-959943BF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Мониторинг AOI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1BB4D-CB8B-4EA5-A859-49DC612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718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поиск новых сцен каждые 1–3 часа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428F7-3850-42A2-A96B-D9FAED29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D612-0805-42A1-B3C1-6B619AB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AI-скрининг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2C377-06ED-4A12-AB9D-436277AF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VV/VH анализ и геополигон сигнала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45E1E-3DDA-4315-83BF-CCBA00B7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91C18-3255-41D0-B84A-441A6C9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Фильтры риска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FA160-BCD3-47D4-AF1F-82797E4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005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берег, площадь, форма, до/после и 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8D216-833F-4CD9-8C20-18FE4AF7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7507C-CC2A-430D-BFB8-1FAD0FF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Центр проверки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78867-320E-4F07-A9E9-2E54CEA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149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подтвердить, отклонить или эскалировать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D0CC6-0C4B-4F62-AEAC-9F344427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B65A8-225B-46BF-B62F-6B4572D2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Экспорт и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CDE06-22E2-409E-A7AC-83B5B0A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GeoJSON, PDF, Telegram, email и webhook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4BE55-E0D1-46ED-A4A9-E9FE5198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06</a:t>
            </a:r>
          </a:p>
        </p:txBody>
      </p:sp>
    </p:spTree>
    <p:extLst>
      <p:ext uri="{BB962C8B-B14F-4D97-AF65-F5344CB8AC3E}">
        <p14:creationId xmlns:p14="http://schemas.microsoft.com/office/powerpoint/2010/main" val="245442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5F888-202B-4016-BF86-9B4C8420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ТЕХНОЛОГИИ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259C-4EB7-4E9B-ABB4-4E7DFDB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Open-source стек готов к локальному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и облачному развёртыванию.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CF714-6EEF-4B9C-845E-FD663165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B4DD-0E30-4C72-A630-959943BF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Спутники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1BB4D-CB8B-4EA5-A859-49DC612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718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Sentinel-1, Earth Search и Copernicus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428F7-3850-42A2-A96B-D9FAED29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D612-0805-42A1-B3C1-6B619AB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2C377-06ED-4A12-AB9D-436277AF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FastAPI, Celery и Redis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45E1E-3DDA-4315-83BF-CCBA00B7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91C18-3255-41D0-B84A-441A6C9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Geo-хранилище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FA160-BCD3-47D4-AF1F-82797E4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005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PostGIS и MinIO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8D216-833F-4CD9-8C20-18FE4AF7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7507C-CC2A-430D-BFB8-1FAD0FF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78867-320E-4F07-A9E9-2E54CEA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149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U-Net/ResNet34 и adaptive SAR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D0CC6-0C4B-4F62-AEAC-9F344427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B65A8-225B-46BF-B62F-6B4572D2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2A35"/>
                </a:solidFill>
              </a:defRPr>
            </a:pPr>
            <a:r>
              <a:rPr sz="1350" b="1">
                <a:solidFill>
                  <a:srgbClr val="082A35"/>
                </a:solidFill>
              </a:rPr>
              <a:t>Интерфейс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CDE06-22E2-409E-A7AC-83B5B0A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React, TypeScript, Leaflet и 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4BE55-E0D1-46ED-A4A9-E9FE5198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07</a:t>
            </a:r>
          </a:p>
        </p:txBody>
      </p:sp>
    </p:spTree>
    <p:extLst>
      <p:ext uri="{BB962C8B-B14F-4D97-AF65-F5344CB8AC3E}">
        <p14:creationId xmlns:p14="http://schemas.microsoft.com/office/powerpoint/2010/main" val="245442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8C513-1D3F-4BCA-98D9-76FB4084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РАБОЧИЙ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5F1AC-16BD-45C4-A4D9-F266EC5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Не макет: полный контур обработки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и двухъязычный интерфейс.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39F0A-3F91-4EC9-999F-35D705B5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82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98327-97CB-4D62-9BD3-76F5194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Earth Search / Copernicus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87ADA-0970-48FE-808B-45F4A1A4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реальные Sentinel-1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D1276-025D-4D2F-86D2-605DB555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005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28E42"/>
                </a:solidFill>
              </a:defRPr>
            </a:pPr>
            <a:r>
              <a:rPr sz="1800" b="1">
                <a:solidFill>
                  <a:srgbClr val="E28E4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688FB-280F-4A8D-A921-74EA51EE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FastAPI + Celery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10031-4F68-456C-9F8C-A3CEF843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поиск и очередь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B5843-98B0-4DB8-88F4-A0434DA0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005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28E42"/>
                </a:solidFill>
              </a:defRPr>
            </a:pPr>
            <a:r>
              <a:rPr sz="1800" b="1">
                <a:solidFill>
                  <a:srgbClr val="E28E4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24E14-1953-410E-9ECA-066259F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PostGIS + MinIO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7A6A0-F9A4-4ECF-9080-C731E5E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сцены и геоданные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50694-2C5B-4592-BEB2-CDD2ECAB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28E42"/>
                </a:solidFill>
              </a:defRPr>
            </a:pPr>
            <a:r>
              <a:rPr sz="1800" b="1">
                <a:solidFill>
                  <a:srgbClr val="E28E4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A90CA-2543-4DA6-826B-9C3E062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33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2E4DA"/>
                </a:solidFill>
              </a:defRPr>
            </a:pPr>
            <a:r>
              <a:rPr sz="1575" b="1">
                <a:solidFill>
                  <a:srgbClr val="92E4DA"/>
                </a:solidFill>
              </a:rPr>
              <a:t>React / Leaflet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C0518-7282-444D-AF27-E444BC7E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71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карта и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96F4-4FF5-4F6C-8D2D-82C77A8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D8B82"/>
                </a:solidFill>
              </a:defRPr>
            </a:pPr>
            <a:r>
              <a:rPr sz="1500" b="1">
                <a:solidFill>
                  <a:srgbClr val="0D8B82"/>
                </a:solidFill>
              </a:rPr>
              <a:t>RU / KZ  •  AOI-мониторинг  •  GeoJSON  •  PDF-отчёт  •  журнал операторских решений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3F86C-5E15-4686-9E03-AFBC30B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11144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97B21-6D9F-415C-B3FF-4D708C54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D8B82"/>
                </a:solidFill>
              </a:defRPr>
            </a:pPr>
            <a:r>
              <a:rPr sz="1275" b="1">
                <a:solidFill>
                  <a:srgbClr val="0D8B82"/>
                </a:solidFill>
              </a:rPr>
              <a:t>LIVE-КОНТУР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71FB2-8740-48D1-8F7B-80B5418B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2A35"/>
                </a:solidFill>
              </a:defRPr>
            </a:pPr>
            <a:r>
              <a:rPr sz="1800" b="1">
                <a:solidFill>
                  <a:srgbClr val="082A35"/>
                </a:solidFill>
              </a:rPr>
              <a:t>Sentinel-1 → очередь → PostGIS / MinIO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3E226-E49A-4F65-9103-47E4A07E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717A"/>
                </a:solidFill>
              </a:defRPr>
            </a:pPr>
            <a:r>
              <a:rPr sz="1350" b="0">
                <a:solidFill>
                  <a:srgbClr val="55717A"/>
                </a:solidFill>
              </a:rPr>
              <a:t>Свежая сцена Sentinel-1D от 6 августа 2026 найдена через Earth Search. Интерфейс показывает источник, дату, VV/VH и экспериментальный статус модели.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CA37C-E163-43D2-9013-07E1AA6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28E42"/>
                </a:solidFill>
              </a:defRPr>
            </a:pPr>
            <a:r>
              <a:rPr sz="1275" b="1">
                <a:solidFill>
                  <a:srgbClr val="E28E42"/>
                </a:solidFill>
              </a:rPr>
              <a:t>19 backend-тестов  •  RU / KZ  •  без demo fallback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905fac929462a"/>
          <a:srcRect xmlns:a="http://schemas.openxmlformats.org/drawingml/2006/main" l="0" t="29023" r="0" b="290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3219450"/>
            <a:ext cx="62865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4754C-E80C-4B21-A627-92C594A6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08</a:t>
            </a:r>
          </a:p>
        </p:txBody>
      </p:sp>
    </p:spTree>
    <p:extLst>
      <p:ext uri="{BB962C8B-B14F-4D97-AF65-F5344CB8AC3E}">
        <p14:creationId xmlns:p14="http://schemas.microsoft.com/office/powerpoint/2010/main" val="148097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A3F93-409F-4165-9D66-4E37AE76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ЭКОЛОГИЧЕСКИЙ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183AC-A832-4B2D-8825-42C0521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Ранний скрининг помогает быстрее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направлять ресурсы на проверку.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068A9-CFD3-4521-96E4-05F5AFC2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91A1C-B391-4CD7-8380-213E3D3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Скорость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322B2-E0AD-4F8F-8BB2-C1B988D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быстрее заметить новую потенциальную угрозу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02214-42BA-4FDB-BA28-F740127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8D25F-0CBB-4D37-BBDC-BEED33D8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Охват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5AAB2-D186-498B-AB5E-8192AB4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регулярно наблюдать крупные акватории и AOI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B5803-72F4-4A0F-AFF5-F877A923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59A19-DC79-4CCF-A650-9D84E462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Контроль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2E558-CF01-4632-AC65-FDD53E7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48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313B"/>
                </a:solidFill>
              </a:defRPr>
            </a:pPr>
            <a:r>
              <a:rPr sz="1425" b="0">
                <a:solidFill>
                  <a:srgbClr val="11313B"/>
                </a:solidFill>
              </a:rPr>
              <a:t>сохранять доказательства и историю решений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29C39-6B6F-4E19-9E68-2644D78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09</a:t>
            </a:r>
          </a:p>
        </p:txBody>
      </p:sp>
    </p:spTree>
    <p:extLst>
      <p:ext uri="{BB962C8B-B14F-4D97-AF65-F5344CB8AC3E}">
        <p14:creationId xmlns:p14="http://schemas.microsoft.com/office/powerpoint/2010/main" val="1271905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F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FEFDF-669F-4A3A-A760-CADBEC2C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8B82"/>
                </a:solidFill>
              </a:defRPr>
            </a:pPr>
            <a:r>
              <a:rPr sz="1125" b="1">
                <a:solidFill>
                  <a:srgbClr val="0D8B82"/>
                </a:solidFill>
              </a:rPr>
              <a:t>РАЗВИТИЕ И ВНЕДРЕНИЕ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D691A-A74F-4C53-882B-3DCFFAE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Путь к промышленному сервису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2A35"/>
                </a:solidFill>
              </a:defRPr>
            </a:pPr>
            <a:r>
              <a:rPr sz="3900" b="1">
                <a:solidFill>
                  <a:srgbClr val="082A35"/>
                </a:solidFill>
              </a:rPr>
              <a:t>начинается с пилота на Каспии.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DD80-6A7F-491C-8BA8-F2291AF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D3E8-E279-4CF4-99B9-E301BA1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0–3 месяца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293A-D69E-4B81-A3D5-665DAE8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Пилот в Актау, Тенгизе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и Кашагане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759A-50FF-4A1E-8F01-2EC79D8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E69D3-675A-4588-BCB7-24A92C80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3–6 месяцев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5A3E3-E94B-49BE-BB5B-2A6EEF2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Разметка данных и валидация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модели по районам и датам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4EA91-8A5A-4625-AB28-25327AC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3238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B4F5-493C-45E1-9460-C66F639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8B82"/>
                </a:solidFill>
              </a:defRPr>
            </a:pPr>
            <a:r>
              <a:rPr sz="1800" b="1">
                <a:solidFill>
                  <a:srgbClr val="0D8B82"/>
                </a:solidFill>
              </a:rPr>
              <a:t>6–12 месяцев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AD85-0652-4C91-9EFB-3D18FEAF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Интеграции, роли организаций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313B"/>
                </a:solidFill>
              </a:defRPr>
            </a:pPr>
            <a:r>
              <a:rPr sz="1350" b="0">
                <a:solidFill>
                  <a:srgbClr val="11313B"/>
                </a:solidFill>
              </a:rPr>
              <a:t>и масштабирование AOI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BB82E-08CD-47E3-82F4-86B1E98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2A35"/>
                </a:solidFill>
              </a:defRPr>
            </a:pPr>
            <a:r>
              <a:rPr sz="1725" b="1">
                <a:solidFill>
                  <a:srgbClr val="082A35"/>
                </a:solidFill>
              </a:rPr>
              <a:t>Цель внедрения: единый проверяемый контур экологического мониторинга Каспия.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7ACF7-8FAF-41E6-9E1C-42BF5B2E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717A"/>
                </a:solidFill>
              </a:defRPr>
            </a:pPr>
            <a:r>
              <a:rPr sz="900" b="1">
                <a:solidFill>
                  <a:srgbClr val="55717A"/>
                </a:solidFill>
              </a:rPr>
              <a:t>CASPIAN GUARDIAN AI  /  10</a:t>
            </a:r>
          </a:p>
        </p:txBody>
      </p:sp>
    </p:spTree>
    <p:extLst>
      <p:ext uri="{BB962C8B-B14F-4D97-AF65-F5344CB8AC3E}">
        <p14:creationId xmlns:p14="http://schemas.microsoft.com/office/powerpoint/2010/main" val="356632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2026-08-07T02:10:58.0760000Z</dcterms:created>
  <dcterms:modified xsi:type="dcterms:W3CDTF">2026-08-07T02:10:58.0760000Z</dcterms:modified>
</coreProperties>
</file>
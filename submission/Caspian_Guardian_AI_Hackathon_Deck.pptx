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cac54ce2e94c7b" /><Relationship Type="http://schemas.openxmlformats.org/officeDocument/2006/relationships/extended-properties" Target="/docProps/app.xml" Id="Rdefa58d5b59e4038" /><Relationship Type="http://schemas.openxmlformats.org/officeDocument/2006/relationships/officeDocument" Target="/ppt/presentation.xml" Id="Rf8cf38c5e5354d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7ed6c147c34a2c"/>
  </p:sldMasterIdLst>
  <p:notesMasterIdLst>
    <p:notesMasterId xmlns:r="http://schemas.openxmlformats.org/officeDocument/2006/relationships" r:id="R10d7d047df0a4168"/>
  </p:notesMasterIdLst>
  <p:sldIdLst>
    <p:sldId xmlns:r="http://schemas.openxmlformats.org/officeDocument/2006/relationships" id="256" r:id="R52dd3541a50e4cef"/>
    <p:sldId xmlns:r="http://schemas.openxmlformats.org/officeDocument/2006/relationships" id="257" r:id="R8a57b75ba6f24d9f"/>
    <p:sldId xmlns:r="http://schemas.openxmlformats.org/officeDocument/2006/relationships" id="258" r:id="Rf41fbcbf68ff41cc"/>
    <p:sldId xmlns:r="http://schemas.openxmlformats.org/officeDocument/2006/relationships" id="259" r:id="R5e040fc38fef46ed"/>
    <p:sldId xmlns:r="http://schemas.openxmlformats.org/officeDocument/2006/relationships" id="260" r:id="R78b964d3e6014e4f"/>
    <p:sldId xmlns:r="http://schemas.openxmlformats.org/officeDocument/2006/relationships" id="261" r:id="R6624da325f904101"/>
    <p:sldId xmlns:r="http://schemas.openxmlformats.org/officeDocument/2006/relationships" id="262" r:id="R976e77f89569497d"/>
    <p:sldId xmlns:r="http://schemas.openxmlformats.org/officeDocument/2006/relationships" id="263" r:id="Rf5729e88883244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34cf50ae1c4f20" /><Relationship Type="http://schemas.openxmlformats.org/officeDocument/2006/relationships/slideMaster" Target="/ppt/slideMasters/slideMaster1.xml" Id="Ra27ed6c147c34a2c" /><Relationship Type="http://schemas.openxmlformats.org/officeDocument/2006/relationships/notesMaster" Target="/ppt/notesMasters/notesMaster1.xml" Id="R10d7d047df0a4168" /><Relationship Type="http://schemas.openxmlformats.org/officeDocument/2006/relationships/presProps" Target="/ppt/presProps.xml" Id="Rfe1fccd5c9014911" /><Relationship Type="http://schemas.openxmlformats.org/officeDocument/2006/relationships/tableStyles" Target="/ppt/tableStyles.xml" Id="R626647b4d08e4152" /><Relationship Type="http://schemas.openxmlformats.org/officeDocument/2006/relationships/slide" Target="/ppt/slides/slide1.xml" Id="R52dd3541a50e4cef" /><Relationship Type="http://schemas.openxmlformats.org/officeDocument/2006/relationships/slide" Target="/ppt/slides/slide2.xml" Id="R8a57b75ba6f24d9f" /><Relationship Type="http://schemas.openxmlformats.org/officeDocument/2006/relationships/slide" Target="/ppt/slides/slide3.xml" Id="Rf41fbcbf68ff41cc" /><Relationship Type="http://schemas.openxmlformats.org/officeDocument/2006/relationships/slide" Target="/ppt/slides/slide4.xml" Id="R5e040fc38fef46ed" /><Relationship Type="http://schemas.openxmlformats.org/officeDocument/2006/relationships/slide" Target="/ppt/slides/slide5.xml" Id="R78b964d3e6014e4f" /><Relationship Type="http://schemas.openxmlformats.org/officeDocument/2006/relationships/slide" Target="/ppt/slides/slide6.xml" Id="R6624da325f904101" /><Relationship Type="http://schemas.openxmlformats.org/officeDocument/2006/relationships/slide" Target="/ppt/slides/slide7.xml" Id="R976e77f89569497d" /><Relationship Type="http://schemas.openxmlformats.org/officeDocument/2006/relationships/slide" Target="/ppt/slides/slide8.xml" Id="Rf5729e88883244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9c908d555942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002c6399a143a9" /><Relationship Type="http://schemas.openxmlformats.org/officeDocument/2006/relationships/notesMaster" Target="/ppt/notesMasters/notesMaster1.xml" Id="R71c808a4c37747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6538642fd14ccf" /><Relationship Type="http://schemas.openxmlformats.org/officeDocument/2006/relationships/notesMaster" Target="/ppt/notesMasters/notesMaster1.xml" Id="Rfd842d31b32f45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65b55d8e7543dc" /><Relationship Type="http://schemas.openxmlformats.org/officeDocument/2006/relationships/notesMaster" Target="/ppt/notesMasters/notesMaster1.xml" Id="Rf017232346654a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12b2aa1d5b4c47" /><Relationship Type="http://schemas.openxmlformats.org/officeDocument/2006/relationships/notesMaster" Target="/ppt/notesMasters/notesMaster1.xml" Id="Rddacaa942bbd4f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bdc4fd9e284ad6" /><Relationship Type="http://schemas.openxmlformats.org/officeDocument/2006/relationships/notesMaster" Target="/ppt/notesMasters/notesMaster1.xml" Id="R17ed1632a38f41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5a81a9e94e48dc" /><Relationship Type="http://schemas.openxmlformats.org/officeDocument/2006/relationships/notesMaster" Target="/ppt/notesMasters/notesMaster1.xml" Id="R7bb9ac39838c40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78356464ac4c77" /><Relationship Type="http://schemas.openxmlformats.org/officeDocument/2006/relationships/notesMaster" Target="/ppt/notesMasters/notesMaster1.xml" Id="Rc203bbfd617542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536570ab194c2e" /><Relationship Type="http://schemas.openxmlformats.org/officeDocument/2006/relationships/notesMaster" Target="/ppt/notesMasters/notesMaster1.xml" Id="Rebbdd45ae2bf40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Caspian Hackathon Technical Specification, supplied by the organizer.</a:t>
            </a:r>
          </a:p>
          <a:p xmlns:a="http://schemas.openxmlformats.org/drawingml/2006/main">
            <a:r>
              <a:t>- Project source: https://github.com/Alizhan2/Caspian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Opening: state the mission in one sentence. The platform reduces the time from a newly available SAR scene to an operator-ready field verification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Caspian Hackathon Technical Specification, supplied by the organizer.</a:t>
            </a:r>
          </a:p>
          <a:p xmlns:a="http://schemas.openxmlformats.org/drawingml/2006/main">
            <a:r>
              <a:t>- Project source: https://github.com/Alizhan2/Caspian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Emphasize responsible positioning: satellite imagery helps prioritize attention, but it cannot replace environmental expertise or field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Caspian Hackathon Technical Specification, supplied by the organizer.</a:t>
            </a:r>
          </a:p>
          <a:p xmlns:a="http://schemas.openxmlformats.org/drawingml/2006/main">
            <a:r>
              <a:t>- Project source: https://github.com/Alizhan2/Caspian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solution is a decision-support workflow. Its output is an experimental screening signal, not a confirmed oil spill.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Caspian Hackathon Technical Specification, supplied by the organizer.</a:t>
            </a:r>
          </a:p>
          <a:p xmlns:a="http://schemas.openxmlformats.org/drawingml/2006/main">
            <a:r>
              <a:t>- Project source: https://github.com/Alizhan2/Caspian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Point to the running web UI. The stack uses Redis/Celery for durable jobs, PostGIS for spatial persistence and MinIO for raster artifacts. Screenshot: local live MVP captured on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Caspian Hackathon Technical Specification, supplied by the organizer.</a:t>
            </a:r>
          </a:p>
          <a:p xmlns:a="http://schemas.openxmlformats.org/drawingml/2006/main">
            <a:r>
              <a:t>- Project source: https://github.com/Alizhan2/Caspian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 precise: authorized AIS context is only shown when the organization configures a provider. The platform does not fabricate vessel data or detections.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Caspian Hackathon Technical Specification, supplied by the organizer.</a:t>
            </a:r>
          </a:p>
          <a:p xmlns:a="http://schemas.openxmlformats.org/drawingml/2006/main">
            <a:r>
              <a:t>- Project source: https://github.com/Alizhan2/Caspian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Walk the jury through the status chain. Stress auditability: human actions and review history are persisted, so alerts remain explainable. Screenshot: local operator review captured on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Caspian Hackathon Technical Specification, supplied by the organizer.</a:t>
            </a:r>
          </a:p>
          <a:p xmlns:a="http://schemas.openxmlformats.org/drawingml/2006/main">
            <a:r>
              <a:t>- Project source: https://github.com/Alizhan2/Caspian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End with a practical adoption path rather than a promise of fully automated enforcement.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Caspian Hackathon Technical Specification, supplied by the organizer.</a:t>
            </a:r>
          </a:p>
          <a:p xmlns:a="http://schemas.openxmlformats.org/drawingml/2006/main">
            <a:r>
              <a:t>- Project source: https://github.com/Alizhan2/Caspian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Close with the repository and demonstrate the running MVP. Invite the jury to test the map, AOI setup and operator review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5a156259934c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2659cdfd474123" /><Relationship Type="http://schemas.openxmlformats.org/officeDocument/2006/relationships/slideLayout" Target="/ppt/slideLayouts/slideLayout1.xml" Id="Rb2753091c09441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753091c09441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1f00fbae24706" /><Relationship Type="http://schemas.openxmlformats.org/officeDocument/2006/relationships/notesSlide" Target="/ppt/notesSlides/notesSlide1.xml" Id="Rdc68413482c942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44859d9604ba9" /><Relationship Type="http://schemas.openxmlformats.org/officeDocument/2006/relationships/notesSlide" Target="/ppt/notesSlides/notesSlide2.xml" Id="R91db3dd807aa4f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bb601c6004bfb" /><Relationship Type="http://schemas.openxmlformats.org/officeDocument/2006/relationships/notesSlide" Target="/ppt/notesSlides/notesSlide3.xml" Id="R41f0c87ec58c40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5c7b76cab4a89" /><Relationship Type="http://schemas.openxmlformats.org/officeDocument/2006/relationships/image" Target="/ppt/media/image.jpeg" Id="R3373bd4e79404409" /><Relationship Type="http://schemas.openxmlformats.org/officeDocument/2006/relationships/notesSlide" Target="/ppt/notesSlides/notesSlide4.xml" Id="Rbfff33ec8a0f45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c04c474e649e2" /><Relationship Type="http://schemas.openxmlformats.org/officeDocument/2006/relationships/notesSlide" Target="/ppt/notesSlides/notesSlide5.xml" Id="R6c9ea0d5e8c640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2bf9568e7441c" /><Relationship Type="http://schemas.openxmlformats.org/officeDocument/2006/relationships/image" Target="/ppt/media/image2.jpeg" Id="R4807ab519498498a" /><Relationship Type="http://schemas.openxmlformats.org/officeDocument/2006/relationships/notesSlide" Target="/ppt/notesSlides/notesSlide6.xml" Id="R0df0f07297b642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5c990398b418d" /><Relationship Type="http://schemas.openxmlformats.org/officeDocument/2006/relationships/notesSlide" Target="/ppt/notesSlides/notesSlide7.xml" Id="R8f20a080f99f4e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974d1e4214c64" /><Relationship Type="http://schemas.openxmlformats.org/officeDocument/2006/relationships/notesSlide" Target="/ppt/notesSlides/notesSlide8.xml" Id="R82dda8ac3c6945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3F300-4D90-4585-AE4C-40C79D37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29F73-6FBA-4235-8D92-1B676B7E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71427-DD39-47FC-9B34-1457EF24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CASPIAN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GUARDIAN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EFBD1-1C88-494C-84D2-34288C3F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92E4DA"/>
                </a:solidFill>
              </a:defRPr>
            </a:pPr>
            <a:r>
              <a:rPr sz="1875" b="0">
                <a:solidFill>
                  <a:srgbClr val="92E4DA"/>
                </a:solidFill>
              </a:rPr>
              <a:t>Спутниковый скрининг экологических рисков</a:t>
            </a:r>
          </a:p>
          <a:p xmlns:a="http://schemas.openxmlformats.org/drawingml/2006/main">
            <a:pPr algn="l">
              <a:defRPr sz="1875" b="0">
                <a:solidFill>
                  <a:srgbClr val="92E4DA"/>
                </a:solidFill>
              </a:defRPr>
            </a:pPr>
            <a:r>
              <a:rPr sz="1875" b="0">
                <a:solidFill>
                  <a:srgbClr val="92E4DA"/>
                </a:solidFill>
              </a:rPr>
              <a:t>для полевой проверки в Каспийском море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AD3FA-9D89-4A32-8526-FDF9AA05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3243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28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00615-AFE7-4C7A-9190-F7CFA7AB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01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A35"/>
                </a:solidFill>
              </a:defRPr>
            </a:pPr>
            <a:r>
              <a:rPr sz="1650" b="1">
                <a:solidFill>
                  <a:srgbClr val="082A35"/>
                </a:solidFill>
              </a:rPr>
              <a:t>Рабочий MVP для Caspian Hackathon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09C8A-FDFD-4E99-9B68-C7D7B34A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CD6D3"/>
                </a:solidFill>
              </a:defRPr>
            </a:pPr>
            <a:r>
              <a:rPr sz="1275" b="1">
                <a:solidFill>
                  <a:srgbClr val="BCD6D3"/>
                </a:solidFill>
              </a:rPr>
              <a:t>Sentinel-1  •  Open-source AI  •  GIS  •  RU / KZ</a:t>
            </a:r>
          </a:p>
        </p:txBody>
      </p:sp>
    </p:spTree>
    <p:extLst>
      <p:ext uri="{BB962C8B-B14F-4D97-AF65-F5344CB8AC3E}">
        <p14:creationId xmlns:p14="http://schemas.microsoft.com/office/powerpoint/2010/main" val="1727114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A3F93-409F-4165-9D66-4E37AE76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8B82"/>
                </a:solidFill>
              </a:defRPr>
            </a:pPr>
            <a:r>
              <a:rPr sz="1125" b="1">
                <a:solidFill>
                  <a:srgbClr val="0D8B82"/>
                </a:solidFill>
              </a:rPr>
              <a:t>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183AC-A832-4B2D-8825-42C05217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33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Экологический риск виден поздно —</a:t>
            </a:r>
          </a:p>
          <a:p xmlns:a="http://schemas.openxmlformats.org/drawingml/2006/main">
            <a:pPr algn="l"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а проверка начинается без приоритета.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068A9-CFD3-4521-96E4-05F5AFC2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F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91A1C-B391-4CD7-8380-213E3D37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8B82"/>
                </a:solidFill>
              </a:defRPr>
            </a:pPr>
            <a:r>
              <a:rPr sz="1800" b="1">
                <a:solidFill>
                  <a:srgbClr val="0D8B82"/>
                </a:solidFill>
              </a:rPr>
              <a:t>Снимки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322B2-E0AD-4F8F-8BB2-C1B988DD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481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313B"/>
                </a:solidFill>
              </a:defRPr>
            </a:pPr>
            <a:r>
              <a:rPr sz="1425" b="0">
                <a:solidFill>
                  <a:srgbClr val="11313B"/>
                </a:solidFill>
              </a:rPr>
              <a:t>SAR-сцены сложны для ручной интерпретации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02214-42BA-4FDB-BA28-F7401278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F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8D25F-0CBB-4D37-BBDC-BEED33D8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81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8B82"/>
                </a:solidFill>
              </a:defRPr>
            </a:pPr>
            <a:r>
              <a:rPr sz="1800" b="1">
                <a:solidFill>
                  <a:srgbClr val="0D8B82"/>
                </a:solidFill>
              </a:rPr>
              <a:t>Решения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5AAB2-D186-498B-AB5E-8192AB45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481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313B"/>
                </a:solidFill>
              </a:defRPr>
            </a:pPr>
            <a:r>
              <a:rPr sz="1425" b="0">
                <a:solidFill>
                  <a:srgbClr val="11313B"/>
                </a:solidFill>
              </a:rPr>
              <a:t>Не хватает единой цепочки: сцена → сигнал → проверка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B5803-72F4-4A0F-AFF5-F877A923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147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F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D59A19-DC79-4CCF-A650-9D84E462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81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8B82"/>
                </a:solidFill>
              </a:defRPr>
            </a:pPr>
            <a:r>
              <a:rPr sz="1800" b="1">
                <a:solidFill>
                  <a:srgbClr val="0D8B82"/>
                </a:solidFill>
              </a:rPr>
              <a:t>Риск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2E558-CF01-4632-AC65-FDD53E79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481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313B"/>
                </a:solidFill>
              </a:defRPr>
            </a:pPr>
            <a:r>
              <a:rPr sz="1425" b="0">
                <a:solidFill>
                  <a:srgbClr val="11313B"/>
                </a:solidFill>
              </a:rPr>
              <a:t>Тёмные области на SAR могут быть не разливом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29C39-6B6F-4E19-9E68-2644D78E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717A"/>
                </a:solidFill>
              </a:defRPr>
            </a:pPr>
            <a:r>
              <a:rPr sz="900" b="1">
                <a:solidFill>
                  <a:srgbClr val="55717A"/>
                </a:solidFill>
              </a:rPr>
              <a:t>CASPIAN GUARDIAN AI  /  02</a:t>
            </a:r>
          </a:p>
        </p:txBody>
      </p:sp>
    </p:spTree>
    <p:extLst>
      <p:ext uri="{BB962C8B-B14F-4D97-AF65-F5344CB8AC3E}">
        <p14:creationId xmlns:p14="http://schemas.microsoft.com/office/powerpoint/2010/main" val="1271905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F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2D7CE8-7B54-4A7E-BA67-96CC57A0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8B82"/>
                </a:solidFill>
              </a:defRPr>
            </a:pPr>
            <a:r>
              <a:rPr sz="1125" b="1">
                <a:solidFill>
                  <a:srgbClr val="0D8B82"/>
                </a:solidFill>
              </a:rPr>
              <a:t>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98EDD-A463-4000-837C-4B8933EB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33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Caspian Guardian AI превращает новую сцену</a:t>
            </a:r>
          </a:p>
          <a:p xmlns:a="http://schemas.openxmlformats.org/drawingml/2006/main">
            <a:pPr algn="l"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в прозрачный план проверки.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82CF2-D7C5-4432-9232-35F4BFEB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3050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B984F-D90A-47BE-9EBA-2F639505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8E42"/>
                </a:solidFill>
              </a:defRPr>
            </a:pPr>
            <a:r>
              <a:rPr sz="1350" b="1">
                <a:solidFill>
                  <a:srgbClr val="E28E42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8D682-B725-40AB-9071-6EC5775D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A35"/>
                </a:solidFill>
              </a:defRPr>
            </a:pPr>
            <a:r>
              <a:rPr sz="1800" b="1">
                <a:solidFill>
                  <a:srgbClr val="082A35"/>
                </a:solidFill>
              </a:rPr>
              <a:t>Находит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EBEC7-DAEE-4FE7-B8BC-CBD8ADAB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7677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17A"/>
                </a:solidFill>
              </a:defRPr>
            </a:pPr>
            <a:r>
              <a:rPr sz="1275" b="0">
                <a:solidFill>
                  <a:srgbClr val="55717A"/>
                </a:solidFill>
              </a:rPr>
              <a:t>последнюю Sentinel-1 GRD сцену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8963D-D1C8-4964-916E-6EA074F3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81500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8B82"/>
                </a:solidFill>
              </a:defRPr>
            </a:pPr>
            <a:r>
              <a:rPr sz="1950" b="1">
                <a:solidFill>
                  <a:srgbClr val="0D8B82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FD188-D05D-48DE-9DAA-9663B106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14750"/>
            <a:ext cx="23050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F4BAA-AB17-43FF-9CBA-0F63F2E1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05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8E42"/>
                </a:solidFill>
              </a:defRPr>
            </a:pPr>
            <a:r>
              <a:rPr sz="1350" b="1">
                <a:solidFill>
                  <a:srgbClr val="E28E4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9E2F0-EB42-48D2-9B1D-7590021F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86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A35"/>
                </a:solidFill>
              </a:defRPr>
            </a:pPr>
            <a:r>
              <a:rPr sz="1800" b="1">
                <a:solidFill>
                  <a:srgbClr val="082A35"/>
                </a:solidFill>
              </a:rPr>
              <a:t>Анализирует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F807B-3A56-40C6-B031-99BBFC80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7677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17A"/>
                </a:solidFill>
              </a:defRPr>
            </a:pPr>
            <a:r>
              <a:rPr sz="1275" b="0">
                <a:solidFill>
                  <a:srgbClr val="55717A"/>
                </a:solidFill>
              </a:rPr>
              <a:t>VV/VH каналы локальной open-source моделью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215DE9-26E9-4D63-8169-41BF1B07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81500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8B82"/>
                </a:solidFill>
              </a:defRPr>
            </a:pPr>
            <a:r>
              <a:rPr sz="1950" b="1">
                <a:solidFill>
                  <a:srgbClr val="0D8B8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D55AD-9CA5-4FC9-A42E-E1B4BF62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23050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3DDE87-4B36-4997-AA03-6E213956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8E42"/>
                </a:solidFill>
              </a:defRPr>
            </a:pPr>
            <a:r>
              <a:rPr sz="1350" b="1">
                <a:solidFill>
                  <a:srgbClr val="E28E4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163D4-DB5F-42D8-8ECB-8D066920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86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A35"/>
                </a:solidFill>
              </a:defRPr>
            </a:pPr>
            <a:r>
              <a:rPr sz="1800" b="1">
                <a:solidFill>
                  <a:srgbClr val="082A35"/>
                </a:solidFill>
              </a:rPr>
              <a:t>Проверяет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C6E871-D7DB-40CB-8718-98789524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7677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17A"/>
                </a:solidFill>
              </a:defRPr>
            </a:pPr>
            <a:r>
              <a:rPr sz="1275" b="0">
                <a:solidFill>
                  <a:srgbClr val="55717A"/>
                </a:solidFill>
              </a:rPr>
              <a:t>берег, площадь, историю и контекст судов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0C0C91-87BF-4BCB-9A89-9F609C80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81500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8B82"/>
                </a:solidFill>
              </a:defRPr>
            </a:pPr>
            <a:r>
              <a:rPr sz="1950" b="1">
                <a:solidFill>
                  <a:srgbClr val="0D8B82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01CA5-2F8F-448E-807F-F87353B7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3050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CF7ABF-0FF5-468A-BAB4-00B87D7E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05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8E42"/>
                </a:solidFill>
              </a:defRPr>
            </a:pPr>
            <a:r>
              <a:rPr sz="1350" b="1">
                <a:solidFill>
                  <a:srgbClr val="E28E42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83BD4C-5295-4301-BF7A-F8C0E368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A35"/>
                </a:solidFill>
              </a:defRPr>
            </a:pPr>
            <a:r>
              <a:rPr sz="1800" b="1">
                <a:solidFill>
                  <a:srgbClr val="082A35"/>
                </a:solidFill>
              </a:rPr>
              <a:t>Передаёт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3AF278-9CCB-4805-B973-71A1D54E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7677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17A"/>
                </a:solidFill>
              </a:defRPr>
            </a:pPr>
            <a:r>
              <a:rPr sz="1275" b="0">
                <a:solidFill>
                  <a:srgbClr val="55717A"/>
                </a:solidFill>
              </a:rPr>
              <a:t>оператору GeoJSON, отчёт и действия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FF0C53-975E-452B-A048-32B6435F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717A"/>
                </a:solidFill>
              </a:defRPr>
            </a:pPr>
            <a:r>
              <a:rPr sz="900" b="1">
                <a:solidFill>
                  <a:srgbClr val="55717A"/>
                </a:solidFill>
              </a:rPr>
              <a:t>CASPIAN GUARDIAN AI  /  03</a:t>
            </a:r>
          </a:p>
        </p:txBody>
      </p:sp>
    </p:spTree>
    <p:extLst>
      <p:ext uri="{BB962C8B-B14F-4D97-AF65-F5344CB8AC3E}">
        <p14:creationId xmlns:p14="http://schemas.microsoft.com/office/powerpoint/2010/main" val="304242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78C513-1D3F-4BCA-98D9-76FB4084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8B82"/>
                </a:solidFill>
              </a:defRPr>
            </a:pPr>
            <a:r>
              <a:rPr sz="1125" b="1">
                <a:solidFill>
                  <a:srgbClr val="0D8B82"/>
                </a:solidFill>
              </a:rPr>
              <a:t>РАБОЧИЙ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5F1AC-16BD-45C4-A4D9-F266EC52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33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Не макет: полный контур обработки</a:t>
            </a:r>
          </a:p>
          <a:p xmlns:a="http://schemas.openxmlformats.org/drawingml/2006/main">
            <a:pPr algn="l"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и двухъязычный интерфейс.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39F0A-3F91-4EC9-999F-35D705B5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8204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82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98327-97CB-4D62-9BD3-76F51941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33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2E4DA"/>
                </a:solidFill>
              </a:defRPr>
            </a:pPr>
            <a:r>
              <a:rPr sz="1575" b="1">
                <a:solidFill>
                  <a:srgbClr val="92E4DA"/>
                </a:solidFill>
              </a:rPr>
              <a:t>Earth Search / Copernicus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87ADA-0970-48FE-808B-45F4A1A4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71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реальные Sentinel-1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D1276-025D-4D2F-86D2-605DB555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00500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28E42"/>
                </a:solidFill>
              </a:defRPr>
            </a:pPr>
            <a:r>
              <a:rPr sz="1800" b="1">
                <a:solidFill>
                  <a:srgbClr val="E28E42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688FB-280F-4A8D-A921-74EA51EE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733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2E4DA"/>
                </a:solidFill>
              </a:defRPr>
            </a:pPr>
            <a:r>
              <a:rPr sz="1575" b="1">
                <a:solidFill>
                  <a:srgbClr val="92E4DA"/>
                </a:solidFill>
              </a:rPr>
              <a:t>FastAPI + Celery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10031-4F68-456C-9F8C-A3CEF843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71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поиск и очередь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B5843-98B0-4DB8-88F4-A0434DA0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00500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28E42"/>
                </a:solidFill>
              </a:defRPr>
            </a:pPr>
            <a:r>
              <a:rPr sz="1800" b="1">
                <a:solidFill>
                  <a:srgbClr val="E28E42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24E14-1953-410E-9ECA-066259F9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33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2E4DA"/>
                </a:solidFill>
              </a:defRPr>
            </a:pPr>
            <a:r>
              <a:rPr sz="1575" b="1">
                <a:solidFill>
                  <a:srgbClr val="92E4DA"/>
                </a:solidFill>
              </a:rPr>
              <a:t>PostGIS + MinIO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7A6A0-F9A4-4ECF-9080-C731E5EC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171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сцены и геоданные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50694-2C5B-4592-BEB2-CDD2ECAB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00500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28E42"/>
                </a:solidFill>
              </a:defRPr>
            </a:pPr>
            <a:r>
              <a:rPr sz="1800" b="1">
                <a:solidFill>
                  <a:srgbClr val="E28E4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CA90CA-2543-4DA6-826B-9C3E062A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33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2E4DA"/>
                </a:solidFill>
              </a:defRPr>
            </a:pPr>
            <a:r>
              <a:rPr sz="1575" b="1">
                <a:solidFill>
                  <a:srgbClr val="92E4DA"/>
                </a:solidFill>
              </a:rPr>
              <a:t>React / Leaflet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C0518-7282-444D-AF27-E444BC7E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71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карта и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796F4-4FF5-4F6C-8D2D-82C77A8D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8B82"/>
                </a:solidFill>
              </a:defRPr>
            </a:pPr>
            <a:r>
              <a:rPr sz="1500" b="1">
                <a:solidFill>
                  <a:srgbClr val="0D8B82"/>
                </a:solidFill>
              </a:rPr>
              <a:t>RU / KZ  •  AOI-мониторинг  •  GeoJSON  •  PDF-отчёт  •  журнал операторских решений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3F86C-5E15-4686-9E03-AFBC30B6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67050"/>
            <a:ext cx="1114425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97B21-6D9F-415C-B3FF-4D708C54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8B82"/>
                </a:solidFill>
              </a:defRPr>
            </a:pPr>
            <a:r>
              <a:rPr sz="1275" b="1">
                <a:solidFill>
                  <a:srgbClr val="0D8B82"/>
                </a:solidFill>
              </a:rPr>
              <a:t>LIVE-КОНТУР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71FB2-8740-48D1-8F7B-80B5418B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A35"/>
                </a:solidFill>
              </a:defRPr>
            </a:pPr>
            <a:r>
              <a:rPr sz="1800" b="1">
                <a:solidFill>
                  <a:srgbClr val="082A35"/>
                </a:solidFill>
              </a:rPr>
              <a:t>Sentinel-1 → очередь → PostGIS / MinIO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33E226-E49A-4F65-9103-47E4A07E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17A"/>
                </a:solidFill>
              </a:defRPr>
            </a:pPr>
            <a:r>
              <a:rPr sz="1350" b="0">
                <a:solidFill>
                  <a:srgbClr val="55717A"/>
                </a:solidFill>
              </a:rPr>
              <a:t>Свежая сцена Sentinel-1D от 6 августа 2026 найдена через Earth Search. Интерфейс показывает источник, дату, VV/VH и экспериментальный статус модели.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DCA37C-E163-43D2-9013-07E1AA67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8E42"/>
                </a:solidFill>
              </a:defRPr>
            </a:pPr>
            <a:r>
              <a:rPr sz="1275" b="1">
                <a:solidFill>
                  <a:srgbClr val="E28E42"/>
                </a:solidFill>
              </a:rPr>
              <a:t>19 backend-тестов  •  RU / KZ  •  без demo fallback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3bd4e79404409"/>
          <a:srcRect xmlns:a="http://schemas.openxmlformats.org/drawingml/2006/main" l="0" t="29023" r="0" b="290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95875" y="3219450"/>
            <a:ext cx="6286500" cy="2714625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34754C-E80C-4B21-A627-92C594A6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717A"/>
                </a:solidFill>
              </a:defRPr>
            </a:pPr>
            <a:r>
              <a:rPr sz="900" b="1">
                <a:solidFill>
                  <a:srgbClr val="55717A"/>
                </a:solidFill>
              </a:rPr>
              <a:t>CASPIAN GUARDIAN AI  /  04</a:t>
            </a:r>
          </a:p>
        </p:txBody>
      </p:sp>
    </p:spTree>
    <p:extLst>
      <p:ext uri="{BB962C8B-B14F-4D97-AF65-F5344CB8AC3E}">
        <p14:creationId xmlns:p14="http://schemas.microsoft.com/office/powerpoint/2010/main" val="1480974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F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F5F888-202B-4016-BF86-9B4C8420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8B82"/>
                </a:solidFill>
              </a:defRPr>
            </a:pPr>
            <a:r>
              <a:rPr sz="1125" b="1">
                <a:solidFill>
                  <a:srgbClr val="0D8B82"/>
                </a:solidFill>
              </a:rPr>
              <a:t>НАДЁЖНОСТЬ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7259C-4EB7-4E9B-ABB4-4E7DFDB6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33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Система снижает ложные тревоги</a:t>
            </a:r>
          </a:p>
          <a:p xmlns:a="http://schemas.openxmlformats.org/drawingml/2006/main">
            <a:pPr algn="l"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до решения оператора.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CF714-6EEF-4B9C-845E-FD663165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08204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4B4DD-0E30-4C72-A630-959943BF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A35"/>
                </a:solidFill>
              </a:defRPr>
            </a:pPr>
            <a:r>
              <a:rPr sz="1350" b="1">
                <a:solidFill>
                  <a:srgbClr val="082A35"/>
                </a:solidFill>
              </a:rPr>
              <a:t>Береговая маска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1BB4D-CB8B-4EA5-A859-49DC612C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718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17A"/>
                </a:solidFill>
              </a:defRPr>
            </a:pPr>
            <a:r>
              <a:rPr sz="1350" b="0">
                <a:solidFill>
                  <a:srgbClr val="55717A"/>
                </a:solidFill>
              </a:rPr>
              <a:t>исключает кандидаты на суше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428F7-3850-42A2-A96B-D9FAED29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108204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AD612-0805-42A1-B3C1-6B619ABC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A35"/>
                </a:solidFill>
              </a:defRPr>
            </a:pPr>
            <a:r>
              <a:rPr sz="1350" b="1">
                <a:solidFill>
                  <a:srgbClr val="082A35"/>
                </a:solidFill>
              </a:rPr>
              <a:t>Площадь и форма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2C377-06ED-4A12-AB9D-436277AF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8620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17A"/>
                </a:solidFill>
              </a:defRPr>
            </a:pPr>
            <a:r>
              <a:rPr sz="1350" b="0">
                <a:solidFill>
                  <a:srgbClr val="55717A"/>
                </a:solidFill>
              </a:rPr>
              <a:t>отсекает нерелевантные объекты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45E1E-3DDA-4315-83BF-CCBA00B7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8204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691C18-3255-41D0-B84A-441A6C96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A35"/>
                </a:solidFill>
              </a:defRPr>
            </a:pPr>
            <a:r>
              <a:rPr sz="1350" b="1">
                <a:solidFill>
                  <a:srgbClr val="082A35"/>
                </a:solidFill>
              </a:rPr>
              <a:t>Сравнение сцен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FA160-BCD3-47D4-AF1F-82797E43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005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17A"/>
                </a:solidFill>
              </a:defRPr>
            </a:pPr>
            <a:r>
              <a:rPr sz="1350" b="0">
                <a:solidFill>
                  <a:srgbClr val="55717A"/>
                </a:solidFill>
              </a:rPr>
              <a:t>показывает контекст до / после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8D216-833F-4CD9-8C20-18FE4AF7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08204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7507C-CC2A-430D-BFB8-1FAD0FF5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A35"/>
                </a:solidFill>
              </a:defRPr>
            </a:pPr>
            <a:r>
              <a:rPr sz="1350" b="1">
                <a:solidFill>
                  <a:srgbClr val="082A35"/>
                </a:solidFill>
              </a:rPr>
              <a:t>AIS-контекст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78867-320E-4F07-A9E9-2E54CEA2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91490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17A"/>
                </a:solidFill>
              </a:defRPr>
            </a:pPr>
            <a:r>
              <a:rPr sz="1350" b="0">
                <a:solidFill>
                  <a:srgbClr val="55717A"/>
                </a:solidFill>
              </a:rPr>
              <a:t>добавляет суда при подключённом провайдере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D0CC6-0C4B-4F62-AEAC-9F344427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8204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5B65A8-225B-46BF-B62F-6B4572D2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A35"/>
                </a:solidFill>
              </a:defRPr>
            </a:pPr>
            <a:r>
              <a:rPr sz="1350" b="1">
                <a:solidFill>
                  <a:srgbClr val="082A35"/>
                </a:solidFill>
              </a:rPr>
              <a:t>Ручной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CDE06-22E2-409E-A7AC-83B5B0A4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4292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17A"/>
                </a:solidFill>
              </a:defRPr>
            </a:pPr>
            <a:r>
              <a:rPr sz="1350" b="0">
                <a:solidFill>
                  <a:srgbClr val="55717A"/>
                </a:solidFill>
              </a:rPr>
              <a:t>подтвердить, отклонить или эскалировать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34BE55-E0D1-46ED-A4A9-E9FE5198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717A"/>
                </a:solidFill>
              </a:defRPr>
            </a:pPr>
            <a:r>
              <a:rPr sz="900" b="1">
                <a:solidFill>
                  <a:srgbClr val="55717A"/>
                </a:solidFill>
              </a:rPr>
              <a:t>CASPIAN GUARDIAN AI  /  05</a:t>
            </a:r>
          </a:p>
        </p:txBody>
      </p:sp>
    </p:spTree>
    <p:extLst>
      <p:ext uri="{BB962C8B-B14F-4D97-AF65-F5344CB8AC3E}">
        <p14:creationId xmlns:p14="http://schemas.microsoft.com/office/powerpoint/2010/main" val="2454423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D23D47-03E9-4A9B-97E6-34F3B726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8B82"/>
                </a:solidFill>
              </a:defRPr>
            </a:pPr>
            <a:r>
              <a:rPr sz="1125" b="1">
                <a:solidFill>
                  <a:srgbClr val="0D8B82"/>
                </a:solidFill>
              </a:rPr>
              <a:t>ОПЕРАТОРСКИЙ СЦЕНАРИЙ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10708-272D-43D8-A712-0CC71E4F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33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Один экран — от аномалии до</a:t>
            </a:r>
          </a:p>
          <a:p xmlns:a="http://schemas.openxmlformats.org/drawingml/2006/main">
            <a:pPr algn="l"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аудируемого решения.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32A3E-F7D1-40D7-AB1D-E420371B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714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F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46CD2-3DB4-4E9A-8DC2-F524C5C6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2907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8B82"/>
                </a:solidFill>
              </a:defRPr>
            </a:pPr>
            <a:r>
              <a:rPr sz="1125" b="1">
                <a:solidFill>
                  <a:srgbClr val="0D8B82"/>
                </a:solidFill>
              </a:rPr>
              <a:t>DISCOVERED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E5020-ED71-4250-97E9-CF72DB6E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529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313B"/>
                </a:solidFill>
              </a:defRPr>
            </a:pPr>
            <a:r>
              <a:rPr sz="1275" b="0">
                <a:solidFill>
                  <a:srgbClr val="11313B"/>
                </a:solidFill>
              </a:rPr>
              <a:t>Новая сцена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9EBB4-5677-4CC0-9FC7-D100692E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114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8B82"/>
                </a:solidFill>
              </a:defRPr>
            </a:pPr>
            <a:r>
              <a:rPr sz="1650" b="1">
                <a:solidFill>
                  <a:srgbClr val="0D8B82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84274-5EB8-406D-B697-64255AF7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810000"/>
            <a:ext cx="1714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F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6EC28-C414-4013-BA56-BFABDFB1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02907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8B82"/>
                </a:solidFill>
              </a:defRPr>
            </a:pPr>
            <a:r>
              <a:rPr sz="1125" b="1">
                <a:solidFill>
                  <a:srgbClr val="0D8B82"/>
                </a:solidFill>
              </a:rPr>
              <a:t>PROCESSING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1E361-97F7-48B4-85A3-03A9AF82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3529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313B"/>
                </a:solidFill>
              </a:defRPr>
            </a:pPr>
            <a:r>
              <a:rPr sz="1275" b="0">
                <a:solidFill>
                  <a:srgbClr val="11313B"/>
                </a:solidFill>
              </a:rPr>
              <a:t>SAR-анализ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285BF-F825-4ED0-8284-93D3DB4E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114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8B82"/>
                </a:solidFill>
              </a:defRPr>
            </a:pPr>
            <a:r>
              <a:rPr sz="1650" b="1">
                <a:solidFill>
                  <a:srgbClr val="0D8B82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460A4-2984-436D-BFC4-6101E037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10000"/>
            <a:ext cx="1714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F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2B1C3-6CCC-4A47-A9B0-87D7E2B1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2907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8B82"/>
                </a:solidFill>
              </a:defRPr>
            </a:pPr>
            <a:r>
              <a:rPr sz="1125" b="1">
                <a:solidFill>
                  <a:srgbClr val="0D8B82"/>
                </a:solidFill>
              </a:rPr>
              <a:t>AI_ANALYSIS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F744F-F443-4945-970F-D1113886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3529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313B"/>
                </a:solidFill>
              </a:defRPr>
            </a:pPr>
            <a:r>
              <a:rPr sz="1275" b="0">
                <a:solidFill>
                  <a:srgbClr val="11313B"/>
                </a:solidFill>
              </a:rPr>
              <a:t>Кандидаты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9A91B1-D4DA-4DEF-8F20-990470F3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14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8B82"/>
                </a:solidFill>
              </a:defRPr>
            </a:pPr>
            <a:r>
              <a:rPr sz="1650" b="1">
                <a:solidFill>
                  <a:srgbClr val="0D8B82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5AD37-7E57-4FAF-941E-4E0A2973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810000"/>
            <a:ext cx="1714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28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3A4202-268B-467B-A1AF-A50053CF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02907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2A35"/>
                </a:solidFill>
              </a:defRPr>
            </a:pPr>
            <a:r>
              <a:rPr sz="1125" b="1">
                <a:solidFill>
                  <a:srgbClr val="082A35"/>
                </a:solidFill>
              </a:rPr>
              <a:t>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7C3FDC-0234-4A66-8512-13755E04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3529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313B"/>
                </a:solidFill>
              </a:defRPr>
            </a:pPr>
            <a:r>
              <a:rPr sz="1275" b="0">
                <a:solidFill>
                  <a:srgbClr val="11313B"/>
                </a:solidFill>
              </a:rPr>
              <a:t>Выбор оператора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017BF-9DDF-4481-BAAE-430E26CA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114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8B82"/>
                </a:solidFill>
              </a:defRPr>
            </a:pPr>
            <a:r>
              <a:rPr sz="1650" b="1">
                <a:solidFill>
                  <a:srgbClr val="0D8B82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95BBC6-0241-4EBD-B702-85174A9B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10000"/>
            <a:ext cx="1714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F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08E6D0-EE91-4510-B5FE-F853665D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2907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8B82"/>
                </a:solidFill>
              </a:defRPr>
            </a:pPr>
            <a:r>
              <a:rPr sz="1125" b="1">
                <a:solidFill>
                  <a:srgbClr val="0D8B82"/>
                </a:solidFill>
              </a:rPr>
              <a:t>PUBLISHED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04A5FA-94EC-426F-AC40-F452B1EB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529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313B"/>
                </a:solidFill>
              </a:defRPr>
            </a:pPr>
            <a:r>
              <a:rPr sz="1275" b="0">
                <a:solidFill>
                  <a:srgbClr val="11313B"/>
                </a:solidFill>
              </a:rPr>
              <a:t>Отчёт / webhook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B04B4F-5655-4CF5-96C5-7DD8FE3A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1114425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92A1F4-2004-4C38-8A36-37123B52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8B82"/>
                </a:solidFill>
              </a:defRPr>
            </a:pPr>
            <a:r>
              <a:rPr sz="1275" b="1">
                <a:solidFill>
                  <a:srgbClr val="0D8B82"/>
                </a:solidFill>
              </a:rPr>
              <a:t>ЦЕНТР ПРОВЕРКИ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85AFEB-0D4C-41A8-9A86-F0468835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2A35"/>
                </a:solidFill>
              </a:defRPr>
            </a:pPr>
            <a:r>
              <a:rPr sz="1875" b="1">
                <a:solidFill>
                  <a:srgbClr val="082A35"/>
                </a:solidFill>
              </a:rPr>
              <a:t>Решение остаётся за человеком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01540C-4D6B-4E2B-B4ED-8B8ED5FE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400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17A"/>
                </a:solidFill>
              </a:defRPr>
            </a:pPr>
            <a:r>
              <a:rPr sz="1350" b="0">
                <a:solidFill>
                  <a:srgbClr val="55717A"/>
                </a:solidFill>
              </a:rPr>
              <a:t>Оператор видит исходный SAR, маску, площадь, уверенность, версию модели и контекст. Затем подтверждает, отклоняет или эскалирует сигнал.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785CD6-816D-4722-A0AC-EA621847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8E42"/>
                </a:solidFill>
              </a:defRPr>
            </a:pPr>
            <a:r>
              <a:rPr sz="1275" b="1">
                <a:solidFill>
                  <a:srgbClr val="E28E42"/>
                </a:solidFill>
              </a:rPr>
              <a:t>Каждое действие сохраняется в журнале.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07ab519498498a"/>
          <a:srcRect xmlns:a="http://schemas.openxmlformats.org/drawingml/2006/main" l="0" t="30949" r="0" b="309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95875" y="3314700"/>
            <a:ext cx="6286500" cy="2524125"/>
          </a:xfrm>
          <a:prstGeom xmlns:a="http://schemas.openxmlformats.org/drawingml/2006/main" prst="roundRect">
            <a:avLst>
              <a:gd name="adj" fmla="val 4528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973546-79F8-4FA2-A88B-63AA51EB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717A"/>
                </a:solidFill>
              </a:defRPr>
            </a:pPr>
            <a:r>
              <a:rPr sz="900" b="1">
                <a:solidFill>
                  <a:srgbClr val="55717A"/>
                </a:solidFill>
              </a:rPr>
              <a:t>CASPIAN GUARDIAN AI  /  06</a:t>
            </a:r>
          </a:p>
        </p:txBody>
      </p:sp>
    </p:spTree>
    <p:extLst>
      <p:ext uri="{BB962C8B-B14F-4D97-AF65-F5344CB8AC3E}">
        <p14:creationId xmlns:p14="http://schemas.microsoft.com/office/powerpoint/2010/main" val="484144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F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DFEFDF-669F-4A3A-A760-CADBEC2C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8B82"/>
                </a:solidFill>
              </a:defRPr>
            </a:pPr>
            <a:r>
              <a:rPr sz="1125" b="1">
                <a:solidFill>
                  <a:srgbClr val="0D8B82"/>
                </a:solidFill>
              </a:rPr>
              <a:t>ВНЕДРЕНИЕ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D691A-A74F-4C53-882B-3DCFFAE5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33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Начинаем с Каспия — масштабируем</a:t>
            </a:r>
          </a:p>
          <a:p xmlns:a="http://schemas.openxmlformats.org/drawingml/2006/main">
            <a:pPr algn="l"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как платформу экологического мониторинга.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BDD80-6A7F-491C-8BA8-F2291AF7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238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9D3E8-E279-4CF4-99B9-E301BA13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8B82"/>
                </a:solidFill>
              </a:defRPr>
            </a:pPr>
            <a:r>
              <a:rPr sz="1800" b="1">
                <a:solidFill>
                  <a:srgbClr val="0D8B82"/>
                </a:solidFill>
              </a:rPr>
              <a:t>Пилот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5293A-D69E-4B81-A3D5-665DAE89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313B"/>
                </a:solidFill>
              </a:defRPr>
            </a:pPr>
            <a:r>
              <a:rPr sz="1350" b="0">
                <a:solidFill>
                  <a:srgbClr val="11313B"/>
                </a:solidFill>
              </a:rPr>
              <a:t>Актау, Тенгиз, Кашаган</a:t>
            </a:r>
          </a:p>
          <a:p xmlns:a="http://schemas.openxmlformats.org/drawingml/2006/main">
            <a:pPr algn="l">
              <a:defRPr sz="1350" b="0">
                <a:solidFill>
                  <a:srgbClr val="11313B"/>
                </a:solidFill>
              </a:defRPr>
            </a:pPr>
            <a:r>
              <a:rPr sz="1350" b="0">
                <a:solidFill>
                  <a:srgbClr val="11313B"/>
                </a:solidFill>
              </a:rPr>
              <a:t>Сохранённые территории AOI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3759A-50FF-4A1E-8F01-2EC79D87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3238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E69D3-675A-4588-BCB7-24A92C80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8B82"/>
                </a:solidFill>
              </a:defRPr>
            </a:pPr>
            <a:r>
              <a:rPr sz="1800" b="1">
                <a:solidFill>
                  <a:srgbClr val="0D8B82"/>
                </a:solidFill>
              </a:rPr>
              <a:t>Партнёры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5A3E3-E94B-49BE-BB5B-2A6EEF24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767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313B"/>
                </a:solidFill>
              </a:defRPr>
            </a:pPr>
            <a:r>
              <a:rPr sz="1350" b="0">
                <a:solidFill>
                  <a:srgbClr val="11313B"/>
                </a:solidFill>
              </a:rPr>
              <a:t>Экологи, порты, НПО,</a:t>
            </a:r>
          </a:p>
          <a:p xmlns:a="http://schemas.openxmlformats.org/drawingml/2006/main">
            <a:pPr algn="l">
              <a:defRPr sz="1350" b="0">
                <a:solidFill>
                  <a:srgbClr val="11313B"/>
                </a:solidFill>
              </a:defRPr>
            </a:pPr>
            <a:r>
              <a:rPr sz="1350" b="0">
                <a:solidFill>
                  <a:srgbClr val="11313B"/>
                </a:solidFill>
              </a:rPr>
              <a:t>госорганы и исследователи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4EA91-8A5A-4625-AB28-25327ACD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14750"/>
            <a:ext cx="3238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1B4F5-493C-45E1-9460-C66F639A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8B82"/>
                </a:solidFill>
              </a:defRPr>
            </a:pPr>
            <a:r>
              <a:rPr sz="1800" b="1">
                <a:solidFill>
                  <a:srgbClr val="0D8B82"/>
                </a:solidFill>
              </a:rPr>
              <a:t>Расширение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1AD85-0652-4C91-9EFB-3D18FEAF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313B"/>
                </a:solidFill>
              </a:defRPr>
            </a:pPr>
            <a:r>
              <a:rPr sz="1350" b="0">
                <a:solidFill>
                  <a:srgbClr val="11313B"/>
                </a:solidFill>
              </a:rPr>
              <a:t>Качество воды, мусор,</a:t>
            </a:r>
          </a:p>
          <a:p xmlns:a="http://schemas.openxmlformats.org/drawingml/2006/main">
            <a:pPr algn="l">
              <a:defRPr sz="1350" b="0">
                <a:solidFill>
                  <a:srgbClr val="11313B"/>
                </a:solidFill>
              </a:defRPr>
            </a:pPr>
            <a:r>
              <a:rPr sz="1350" b="0">
                <a:solidFill>
                  <a:srgbClr val="11313B"/>
                </a:solidFill>
              </a:rPr>
              <a:t>береговые изменения, рыболовство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BB82E-08CD-47E3-82F4-86B1E98D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A35"/>
                </a:solidFill>
              </a:defRPr>
            </a:pPr>
            <a:r>
              <a:rPr sz="1725" b="1">
                <a:solidFill>
                  <a:srgbClr val="082A35"/>
                </a:solidFill>
              </a:rPr>
              <a:t>Ценность: быстрее находить зоны, где нужен человеческий выезд и проверка.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7ACF7-8FAF-41E6-9E1C-42BF5B2E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717A"/>
                </a:solidFill>
              </a:defRPr>
            </a:pPr>
            <a:r>
              <a:rPr sz="900" b="1">
                <a:solidFill>
                  <a:srgbClr val="55717A"/>
                </a:solidFill>
              </a:rPr>
              <a:t>CASPIAN GUARDIAN AI  /  07</a:t>
            </a:r>
          </a:p>
        </p:txBody>
      </p:sp>
    </p:spTree>
    <p:extLst>
      <p:ext uri="{BB962C8B-B14F-4D97-AF65-F5344CB8AC3E}">
        <p14:creationId xmlns:p14="http://schemas.microsoft.com/office/powerpoint/2010/main" val="3566321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2E4A7-5441-4F46-B2B7-639C0AD4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8B82"/>
                </a:solidFill>
              </a:defRPr>
            </a:pPr>
            <a:r>
              <a:rPr sz="1125" b="1">
                <a:solidFill>
                  <a:srgbClr val="0D8B82"/>
                </a:solidFill>
              </a:rPr>
              <a:t>ФИНАЛ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45B29-77C0-4616-A7C7-ECA316C5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7239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Каспийге дәлелді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және жауапты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мониторинг керек.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93E0A-67D9-409A-B8F2-40E9B7DA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92E4DA"/>
                </a:solidFill>
              </a:defRPr>
            </a:pPr>
            <a:r>
              <a:rPr sz="1875" b="0">
                <a:solidFill>
                  <a:srgbClr val="92E4DA"/>
                </a:solidFill>
              </a:rPr>
              <a:t>Caspian Guardian AI готов к демонстрации: реальные сцены,</a:t>
            </a:r>
          </a:p>
          <a:p xmlns:a="http://schemas.openxmlformats.org/drawingml/2006/main">
            <a:pPr algn="l">
              <a:defRPr sz="1875" b="0">
                <a:solidFill>
                  <a:srgbClr val="92E4DA"/>
                </a:solidFill>
              </a:defRPr>
            </a:pPr>
            <a:r>
              <a:rPr sz="1875" b="0">
                <a:solidFill>
                  <a:srgbClr val="92E4DA"/>
                </a:solidFill>
              </a:rPr>
              <a:t>open-source AI и человеческая верификация в одном контуре.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B7F99-16E5-4B5C-887C-75500052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476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28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ABDCF-88EF-4EDB-A734-CE90C9DC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4827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A35"/>
                </a:solidFill>
              </a:defRPr>
            </a:pPr>
            <a:r>
              <a:rPr sz="1500" b="1">
                <a:solidFill>
                  <a:srgbClr val="082A35"/>
                </a:solidFill>
              </a:rPr>
              <a:t>github.com/Alizhan2/Caspian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31415-4A69-4059-869F-0A98C3D5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CD6D3"/>
                </a:solidFill>
              </a:defRPr>
            </a:pPr>
            <a:r>
              <a:rPr sz="1500" b="1">
                <a:solidFill>
                  <a:srgbClr val="BCD6D3"/>
                </a:solidFill>
              </a:rPr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10600517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2026-08-07T00:18:23.8550000Z</dcterms:created>
  <dcterms:modified xsi:type="dcterms:W3CDTF">2026-08-07T00:18:23.8550000Z</dcterms:modified>
</coreProperties>
</file>